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7" r:id="rId19"/>
    <p:sldId id="278" r:id="rId20"/>
    <p:sldId id="279" r:id="rId21"/>
    <p:sldId id="273" r:id="rId22"/>
    <p:sldId id="28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118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Relationship Id="rId4" Type="http://schemas.openxmlformats.org/officeDocument/2006/relationships/image" Target="../media/image1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Relationship Id="rId4" Type="http://schemas.openxmlformats.org/officeDocument/2006/relationships/image" Target="../media/image1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BD81DB0-2F8A-48BA-9D55-C9000ADB1529}" type="doc">
      <dgm:prSet loTypeId="urn:microsoft.com/office/officeart/2016/7/layout/BasicLinearProcessNumbered" loCatId="process" qsTypeId="urn:microsoft.com/office/officeart/2005/8/quickstyle/simple4" qsCatId="simple" csTypeId="urn:microsoft.com/office/officeart/2005/8/colors/accent5_2" csCatId="accent5"/>
      <dgm:spPr/>
      <dgm:t>
        <a:bodyPr/>
        <a:lstStyle/>
        <a:p>
          <a:endParaRPr lang="en-US"/>
        </a:p>
      </dgm:t>
    </dgm:pt>
    <dgm:pt modelId="{2896318F-439B-4FB1-A949-F049C2F720A2}">
      <dgm:prSet/>
      <dgm:spPr/>
      <dgm:t>
        <a:bodyPr/>
        <a:lstStyle/>
        <a:p>
          <a:r>
            <a:rPr lang="en-US"/>
            <a:t>Predict individuals at risk of financial exclusion in Kenya.</a:t>
          </a:r>
        </a:p>
      </dgm:t>
    </dgm:pt>
    <dgm:pt modelId="{22F08C74-2A09-412A-8622-94CFD3353848}" type="parTrans" cxnId="{10CA2558-8DBF-4147-8BD7-7FC1583AE0C1}">
      <dgm:prSet/>
      <dgm:spPr/>
      <dgm:t>
        <a:bodyPr/>
        <a:lstStyle/>
        <a:p>
          <a:endParaRPr lang="en-US"/>
        </a:p>
      </dgm:t>
    </dgm:pt>
    <dgm:pt modelId="{2CAB20FC-03CC-4825-B058-F15769047BEA}" type="sibTrans" cxnId="{10CA2558-8DBF-4147-8BD7-7FC1583AE0C1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BC930CED-3CFA-4B07-9B6F-483A1E25EB84}">
      <dgm:prSet/>
      <dgm:spPr/>
      <dgm:t>
        <a:bodyPr/>
        <a:lstStyle/>
        <a:p>
          <a:r>
            <a:rPr lang="en-US"/>
            <a:t>Use machine learning to support financial inclusion policies.</a:t>
          </a:r>
        </a:p>
      </dgm:t>
    </dgm:pt>
    <dgm:pt modelId="{87DA1634-2BCA-4F74-BB7B-4E198A483D7F}" type="parTrans" cxnId="{2131AA37-16ED-4C20-BBA8-11F38726AC47}">
      <dgm:prSet/>
      <dgm:spPr/>
      <dgm:t>
        <a:bodyPr/>
        <a:lstStyle/>
        <a:p>
          <a:endParaRPr lang="en-US"/>
        </a:p>
      </dgm:t>
    </dgm:pt>
    <dgm:pt modelId="{7F20636F-F31E-4129-AD30-A4A9E9DAE473}" type="sibTrans" cxnId="{2131AA37-16ED-4C20-BBA8-11F38726AC47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98F851D2-8026-4400-A06D-30F7C5898654}">
      <dgm:prSet/>
      <dgm:spPr/>
      <dgm:t>
        <a:bodyPr/>
        <a:lstStyle/>
        <a:p>
          <a:r>
            <a:rPr lang="en-US"/>
            <a:t>Provide transparent and explainable predictions.</a:t>
          </a:r>
        </a:p>
      </dgm:t>
    </dgm:pt>
    <dgm:pt modelId="{8CDEB5F6-7ABB-4143-ADC8-2ABE997A0B3C}" type="parTrans" cxnId="{640DF63A-B2BD-4C69-AF68-383D56938721}">
      <dgm:prSet/>
      <dgm:spPr/>
      <dgm:t>
        <a:bodyPr/>
        <a:lstStyle/>
        <a:p>
          <a:endParaRPr lang="en-US"/>
        </a:p>
      </dgm:t>
    </dgm:pt>
    <dgm:pt modelId="{00272EBB-AD4E-41E1-BB03-5BA15A0EF42E}" type="sibTrans" cxnId="{640DF63A-B2BD-4C69-AF68-383D56938721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5C6391C5-D8CF-461B-86C0-522EFCFCE36F}">
      <dgm:prSet/>
      <dgm:spPr/>
      <dgm:t>
        <a:bodyPr/>
        <a:lstStyle/>
        <a:p>
          <a:r>
            <a:rPr lang="en-US"/>
            <a:t>Enable targeted interventions for vulnerable groups.</a:t>
          </a:r>
        </a:p>
      </dgm:t>
    </dgm:pt>
    <dgm:pt modelId="{E184C75A-B7F6-4646-94B5-5229C522B239}" type="parTrans" cxnId="{C040D215-8B91-4B99-8B1A-6D0E44CE1370}">
      <dgm:prSet/>
      <dgm:spPr/>
      <dgm:t>
        <a:bodyPr/>
        <a:lstStyle/>
        <a:p>
          <a:endParaRPr lang="en-US"/>
        </a:p>
      </dgm:t>
    </dgm:pt>
    <dgm:pt modelId="{8663E16D-C66F-4450-8385-173541E7DDA3}" type="sibTrans" cxnId="{C040D215-8B91-4B99-8B1A-6D0E44CE1370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B0C552EF-6C59-4B57-88FF-B2B95045E54A}" type="pres">
      <dgm:prSet presAssocID="{BBD81DB0-2F8A-48BA-9D55-C9000ADB1529}" presName="Name0" presStyleCnt="0">
        <dgm:presLayoutVars>
          <dgm:animLvl val="lvl"/>
          <dgm:resizeHandles val="exact"/>
        </dgm:presLayoutVars>
      </dgm:prSet>
      <dgm:spPr/>
    </dgm:pt>
    <dgm:pt modelId="{E583BF9B-6277-4918-9438-7CADD48F4356}" type="pres">
      <dgm:prSet presAssocID="{2896318F-439B-4FB1-A949-F049C2F720A2}" presName="compositeNode" presStyleCnt="0">
        <dgm:presLayoutVars>
          <dgm:bulletEnabled val="1"/>
        </dgm:presLayoutVars>
      </dgm:prSet>
      <dgm:spPr/>
    </dgm:pt>
    <dgm:pt modelId="{04ABB020-8B39-4069-B5FF-E3BA04F40732}" type="pres">
      <dgm:prSet presAssocID="{2896318F-439B-4FB1-A949-F049C2F720A2}" presName="bgRect" presStyleLbl="bgAccFollowNode1" presStyleIdx="0" presStyleCnt="4"/>
      <dgm:spPr/>
    </dgm:pt>
    <dgm:pt modelId="{0B62AEEE-DEA3-4C95-9E78-8F0810281611}" type="pres">
      <dgm:prSet presAssocID="{2CAB20FC-03CC-4825-B058-F15769047BEA}" presName="sibTransNodeCircle" presStyleLbl="alignNode1" presStyleIdx="0" presStyleCnt="8">
        <dgm:presLayoutVars>
          <dgm:chMax val="0"/>
          <dgm:bulletEnabled/>
        </dgm:presLayoutVars>
      </dgm:prSet>
      <dgm:spPr/>
    </dgm:pt>
    <dgm:pt modelId="{D443D8DD-6A45-4EB3-A55C-6FD67521D2CA}" type="pres">
      <dgm:prSet presAssocID="{2896318F-439B-4FB1-A949-F049C2F720A2}" presName="bottomLine" presStyleLbl="alignNode1" presStyleIdx="1" presStyleCnt="8">
        <dgm:presLayoutVars/>
      </dgm:prSet>
      <dgm:spPr/>
    </dgm:pt>
    <dgm:pt modelId="{8AD86637-3E9A-4B26-B083-17BC87BB77EA}" type="pres">
      <dgm:prSet presAssocID="{2896318F-439B-4FB1-A949-F049C2F720A2}" presName="nodeText" presStyleLbl="bgAccFollowNode1" presStyleIdx="0" presStyleCnt="4">
        <dgm:presLayoutVars>
          <dgm:bulletEnabled val="1"/>
        </dgm:presLayoutVars>
      </dgm:prSet>
      <dgm:spPr/>
    </dgm:pt>
    <dgm:pt modelId="{BE3CFBD7-4316-432B-8D7D-F01606525643}" type="pres">
      <dgm:prSet presAssocID="{2CAB20FC-03CC-4825-B058-F15769047BEA}" presName="sibTrans" presStyleCnt="0"/>
      <dgm:spPr/>
    </dgm:pt>
    <dgm:pt modelId="{75DF61C5-5EFB-4F94-BB8F-B4754BBBEEF8}" type="pres">
      <dgm:prSet presAssocID="{BC930CED-3CFA-4B07-9B6F-483A1E25EB84}" presName="compositeNode" presStyleCnt="0">
        <dgm:presLayoutVars>
          <dgm:bulletEnabled val="1"/>
        </dgm:presLayoutVars>
      </dgm:prSet>
      <dgm:spPr/>
    </dgm:pt>
    <dgm:pt modelId="{9E6C0826-ED9A-4A54-AD1C-093743E6EEFD}" type="pres">
      <dgm:prSet presAssocID="{BC930CED-3CFA-4B07-9B6F-483A1E25EB84}" presName="bgRect" presStyleLbl="bgAccFollowNode1" presStyleIdx="1" presStyleCnt="4"/>
      <dgm:spPr/>
    </dgm:pt>
    <dgm:pt modelId="{4724B972-EB8E-41F8-A243-D9AA6943094E}" type="pres">
      <dgm:prSet presAssocID="{7F20636F-F31E-4129-AD30-A4A9E9DAE473}" presName="sibTransNodeCircle" presStyleLbl="alignNode1" presStyleIdx="2" presStyleCnt="8">
        <dgm:presLayoutVars>
          <dgm:chMax val="0"/>
          <dgm:bulletEnabled/>
        </dgm:presLayoutVars>
      </dgm:prSet>
      <dgm:spPr/>
    </dgm:pt>
    <dgm:pt modelId="{403FD177-B0D2-48D9-AEEB-1E3AA073C107}" type="pres">
      <dgm:prSet presAssocID="{BC930CED-3CFA-4B07-9B6F-483A1E25EB84}" presName="bottomLine" presStyleLbl="alignNode1" presStyleIdx="3" presStyleCnt="8">
        <dgm:presLayoutVars/>
      </dgm:prSet>
      <dgm:spPr/>
    </dgm:pt>
    <dgm:pt modelId="{60F69BF0-9200-434C-ACF0-DDE44AED52BB}" type="pres">
      <dgm:prSet presAssocID="{BC930CED-3CFA-4B07-9B6F-483A1E25EB84}" presName="nodeText" presStyleLbl="bgAccFollowNode1" presStyleIdx="1" presStyleCnt="4">
        <dgm:presLayoutVars>
          <dgm:bulletEnabled val="1"/>
        </dgm:presLayoutVars>
      </dgm:prSet>
      <dgm:spPr/>
    </dgm:pt>
    <dgm:pt modelId="{4410035A-AA26-4F3C-9171-2C4DF691303E}" type="pres">
      <dgm:prSet presAssocID="{7F20636F-F31E-4129-AD30-A4A9E9DAE473}" presName="sibTrans" presStyleCnt="0"/>
      <dgm:spPr/>
    </dgm:pt>
    <dgm:pt modelId="{4D6298C5-3F98-4D74-91FA-22C9B242BD6F}" type="pres">
      <dgm:prSet presAssocID="{98F851D2-8026-4400-A06D-30F7C5898654}" presName="compositeNode" presStyleCnt="0">
        <dgm:presLayoutVars>
          <dgm:bulletEnabled val="1"/>
        </dgm:presLayoutVars>
      </dgm:prSet>
      <dgm:spPr/>
    </dgm:pt>
    <dgm:pt modelId="{B0168ED1-5845-4119-86FD-3B9ECB373799}" type="pres">
      <dgm:prSet presAssocID="{98F851D2-8026-4400-A06D-30F7C5898654}" presName="bgRect" presStyleLbl="bgAccFollowNode1" presStyleIdx="2" presStyleCnt="4"/>
      <dgm:spPr/>
    </dgm:pt>
    <dgm:pt modelId="{2782B6B2-5071-4ED4-A22E-ED5E44652DD6}" type="pres">
      <dgm:prSet presAssocID="{00272EBB-AD4E-41E1-BB03-5BA15A0EF42E}" presName="sibTransNodeCircle" presStyleLbl="alignNode1" presStyleIdx="4" presStyleCnt="8">
        <dgm:presLayoutVars>
          <dgm:chMax val="0"/>
          <dgm:bulletEnabled/>
        </dgm:presLayoutVars>
      </dgm:prSet>
      <dgm:spPr/>
    </dgm:pt>
    <dgm:pt modelId="{B3409B1B-F176-43F6-B20E-5D839FB620FE}" type="pres">
      <dgm:prSet presAssocID="{98F851D2-8026-4400-A06D-30F7C5898654}" presName="bottomLine" presStyleLbl="alignNode1" presStyleIdx="5" presStyleCnt="8">
        <dgm:presLayoutVars/>
      </dgm:prSet>
      <dgm:spPr/>
    </dgm:pt>
    <dgm:pt modelId="{004B5DB9-A774-4A77-A3D4-AE57C29984BB}" type="pres">
      <dgm:prSet presAssocID="{98F851D2-8026-4400-A06D-30F7C5898654}" presName="nodeText" presStyleLbl="bgAccFollowNode1" presStyleIdx="2" presStyleCnt="4">
        <dgm:presLayoutVars>
          <dgm:bulletEnabled val="1"/>
        </dgm:presLayoutVars>
      </dgm:prSet>
      <dgm:spPr/>
    </dgm:pt>
    <dgm:pt modelId="{65917395-0548-4DFE-A4BB-44DDBE88A304}" type="pres">
      <dgm:prSet presAssocID="{00272EBB-AD4E-41E1-BB03-5BA15A0EF42E}" presName="sibTrans" presStyleCnt="0"/>
      <dgm:spPr/>
    </dgm:pt>
    <dgm:pt modelId="{043F0BF9-23DE-47D7-8513-F83F8AE88B5F}" type="pres">
      <dgm:prSet presAssocID="{5C6391C5-D8CF-461B-86C0-522EFCFCE36F}" presName="compositeNode" presStyleCnt="0">
        <dgm:presLayoutVars>
          <dgm:bulletEnabled val="1"/>
        </dgm:presLayoutVars>
      </dgm:prSet>
      <dgm:spPr/>
    </dgm:pt>
    <dgm:pt modelId="{5CFF0C39-444B-4342-B250-54ABEBEB0685}" type="pres">
      <dgm:prSet presAssocID="{5C6391C5-D8CF-461B-86C0-522EFCFCE36F}" presName="bgRect" presStyleLbl="bgAccFollowNode1" presStyleIdx="3" presStyleCnt="4"/>
      <dgm:spPr/>
    </dgm:pt>
    <dgm:pt modelId="{7BC5105E-E954-4877-8E0D-0837768230B1}" type="pres">
      <dgm:prSet presAssocID="{8663E16D-C66F-4450-8385-173541E7DDA3}" presName="sibTransNodeCircle" presStyleLbl="alignNode1" presStyleIdx="6" presStyleCnt="8">
        <dgm:presLayoutVars>
          <dgm:chMax val="0"/>
          <dgm:bulletEnabled/>
        </dgm:presLayoutVars>
      </dgm:prSet>
      <dgm:spPr/>
    </dgm:pt>
    <dgm:pt modelId="{E3C44A68-A614-40A4-ADC0-E241D4A78EA2}" type="pres">
      <dgm:prSet presAssocID="{5C6391C5-D8CF-461B-86C0-522EFCFCE36F}" presName="bottomLine" presStyleLbl="alignNode1" presStyleIdx="7" presStyleCnt="8">
        <dgm:presLayoutVars/>
      </dgm:prSet>
      <dgm:spPr/>
    </dgm:pt>
    <dgm:pt modelId="{41E1D170-784C-4DD7-9283-BABBB311123F}" type="pres">
      <dgm:prSet presAssocID="{5C6391C5-D8CF-461B-86C0-522EFCFCE36F}" presName="nodeText" presStyleLbl="bgAccFollowNode1" presStyleIdx="3" presStyleCnt="4">
        <dgm:presLayoutVars>
          <dgm:bulletEnabled val="1"/>
        </dgm:presLayoutVars>
      </dgm:prSet>
      <dgm:spPr/>
    </dgm:pt>
  </dgm:ptLst>
  <dgm:cxnLst>
    <dgm:cxn modelId="{15B65505-AD19-4F2A-8698-FDB789C01C8A}" type="presOf" srcId="{5C6391C5-D8CF-461B-86C0-522EFCFCE36F}" destId="{41E1D170-784C-4DD7-9283-BABBB311123F}" srcOrd="1" destOrd="0" presId="urn:microsoft.com/office/officeart/2016/7/layout/BasicLinearProcessNumbered"/>
    <dgm:cxn modelId="{AC17FB07-79D2-4116-B8FB-9EEEAF0D3FD6}" type="presOf" srcId="{BC930CED-3CFA-4B07-9B6F-483A1E25EB84}" destId="{60F69BF0-9200-434C-ACF0-DDE44AED52BB}" srcOrd="1" destOrd="0" presId="urn:microsoft.com/office/officeart/2016/7/layout/BasicLinearProcessNumbered"/>
    <dgm:cxn modelId="{7C284013-DB39-4BAF-87C4-35C4C5FCE124}" type="presOf" srcId="{2896318F-439B-4FB1-A949-F049C2F720A2}" destId="{04ABB020-8B39-4069-B5FF-E3BA04F40732}" srcOrd="0" destOrd="0" presId="urn:microsoft.com/office/officeart/2016/7/layout/BasicLinearProcessNumbered"/>
    <dgm:cxn modelId="{C040D215-8B91-4B99-8B1A-6D0E44CE1370}" srcId="{BBD81DB0-2F8A-48BA-9D55-C9000ADB1529}" destId="{5C6391C5-D8CF-461B-86C0-522EFCFCE36F}" srcOrd="3" destOrd="0" parTransId="{E184C75A-B7F6-4646-94B5-5229C522B239}" sibTransId="{8663E16D-C66F-4450-8385-173541E7DDA3}"/>
    <dgm:cxn modelId="{4798AB19-3625-4248-A282-281784770353}" type="presOf" srcId="{2896318F-439B-4FB1-A949-F049C2F720A2}" destId="{8AD86637-3E9A-4B26-B083-17BC87BB77EA}" srcOrd="1" destOrd="0" presId="urn:microsoft.com/office/officeart/2016/7/layout/BasicLinearProcessNumbered"/>
    <dgm:cxn modelId="{9D24E223-B8EF-43FA-B902-DA49C81A42B8}" type="presOf" srcId="{2CAB20FC-03CC-4825-B058-F15769047BEA}" destId="{0B62AEEE-DEA3-4C95-9E78-8F0810281611}" srcOrd="0" destOrd="0" presId="urn:microsoft.com/office/officeart/2016/7/layout/BasicLinearProcessNumbered"/>
    <dgm:cxn modelId="{952B7D2D-4E2D-44A3-9D75-E0904DAEAF1E}" type="presOf" srcId="{BBD81DB0-2F8A-48BA-9D55-C9000ADB1529}" destId="{B0C552EF-6C59-4B57-88FF-B2B95045E54A}" srcOrd="0" destOrd="0" presId="urn:microsoft.com/office/officeart/2016/7/layout/BasicLinearProcessNumbered"/>
    <dgm:cxn modelId="{2131AA37-16ED-4C20-BBA8-11F38726AC47}" srcId="{BBD81DB0-2F8A-48BA-9D55-C9000ADB1529}" destId="{BC930CED-3CFA-4B07-9B6F-483A1E25EB84}" srcOrd="1" destOrd="0" parTransId="{87DA1634-2BCA-4F74-BB7B-4E198A483D7F}" sibTransId="{7F20636F-F31E-4129-AD30-A4A9E9DAE473}"/>
    <dgm:cxn modelId="{640DF63A-B2BD-4C69-AF68-383D56938721}" srcId="{BBD81DB0-2F8A-48BA-9D55-C9000ADB1529}" destId="{98F851D2-8026-4400-A06D-30F7C5898654}" srcOrd="2" destOrd="0" parTransId="{8CDEB5F6-7ABB-4143-ADC8-2ABE997A0B3C}" sibTransId="{00272EBB-AD4E-41E1-BB03-5BA15A0EF42E}"/>
    <dgm:cxn modelId="{4207234C-C9D1-4C83-A662-AF6EEB71E6FD}" type="presOf" srcId="{98F851D2-8026-4400-A06D-30F7C5898654}" destId="{004B5DB9-A774-4A77-A3D4-AE57C29984BB}" srcOrd="1" destOrd="0" presId="urn:microsoft.com/office/officeart/2016/7/layout/BasicLinearProcessNumbered"/>
    <dgm:cxn modelId="{6E66EE4E-E269-43D7-9B03-111D9F149CCE}" type="presOf" srcId="{7F20636F-F31E-4129-AD30-A4A9E9DAE473}" destId="{4724B972-EB8E-41F8-A243-D9AA6943094E}" srcOrd="0" destOrd="0" presId="urn:microsoft.com/office/officeart/2016/7/layout/BasicLinearProcessNumbered"/>
    <dgm:cxn modelId="{463F156F-8380-4554-914A-A4B82D5ADE5B}" type="presOf" srcId="{98F851D2-8026-4400-A06D-30F7C5898654}" destId="{B0168ED1-5845-4119-86FD-3B9ECB373799}" srcOrd="0" destOrd="0" presId="urn:microsoft.com/office/officeart/2016/7/layout/BasicLinearProcessNumbered"/>
    <dgm:cxn modelId="{10CA2558-8DBF-4147-8BD7-7FC1583AE0C1}" srcId="{BBD81DB0-2F8A-48BA-9D55-C9000ADB1529}" destId="{2896318F-439B-4FB1-A949-F049C2F720A2}" srcOrd="0" destOrd="0" parTransId="{22F08C74-2A09-412A-8622-94CFD3353848}" sibTransId="{2CAB20FC-03CC-4825-B058-F15769047BEA}"/>
    <dgm:cxn modelId="{0983F180-D0D6-4166-AEC8-BF0F82ECCE2E}" type="presOf" srcId="{8663E16D-C66F-4450-8385-173541E7DDA3}" destId="{7BC5105E-E954-4877-8E0D-0837768230B1}" srcOrd="0" destOrd="0" presId="urn:microsoft.com/office/officeart/2016/7/layout/BasicLinearProcessNumbered"/>
    <dgm:cxn modelId="{78F538B9-5F28-43FE-AFC4-4AA3D645BD6E}" type="presOf" srcId="{5C6391C5-D8CF-461B-86C0-522EFCFCE36F}" destId="{5CFF0C39-444B-4342-B250-54ABEBEB0685}" srcOrd="0" destOrd="0" presId="urn:microsoft.com/office/officeart/2016/7/layout/BasicLinearProcessNumbered"/>
    <dgm:cxn modelId="{434D19E4-341B-41F6-B0D8-8180B00EACEE}" type="presOf" srcId="{BC930CED-3CFA-4B07-9B6F-483A1E25EB84}" destId="{9E6C0826-ED9A-4A54-AD1C-093743E6EEFD}" srcOrd="0" destOrd="0" presId="urn:microsoft.com/office/officeart/2016/7/layout/BasicLinearProcessNumbered"/>
    <dgm:cxn modelId="{A4E4F9EB-779B-458F-A6B7-FCACBD92BE85}" type="presOf" srcId="{00272EBB-AD4E-41E1-BB03-5BA15A0EF42E}" destId="{2782B6B2-5071-4ED4-A22E-ED5E44652DD6}" srcOrd="0" destOrd="0" presId="urn:microsoft.com/office/officeart/2016/7/layout/BasicLinearProcessNumbered"/>
    <dgm:cxn modelId="{C8D231C8-D1B1-41A2-9543-B40FE9DFCE85}" type="presParOf" srcId="{B0C552EF-6C59-4B57-88FF-B2B95045E54A}" destId="{E583BF9B-6277-4918-9438-7CADD48F4356}" srcOrd="0" destOrd="0" presId="urn:microsoft.com/office/officeart/2016/7/layout/BasicLinearProcessNumbered"/>
    <dgm:cxn modelId="{4EF0D262-B8C5-496F-91AC-136EAEA14090}" type="presParOf" srcId="{E583BF9B-6277-4918-9438-7CADD48F4356}" destId="{04ABB020-8B39-4069-B5FF-E3BA04F40732}" srcOrd="0" destOrd="0" presId="urn:microsoft.com/office/officeart/2016/7/layout/BasicLinearProcessNumbered"/>
    <dgm:cxn modelId="{846379CB-9C4F-4C5C-BFF4-64E8678377FE}" type="presParOf" srcId="{E583BF9B-6277-4918-9438-7CADD48F4356}" destId="{0B62AEEE-DEA3-4C95-9E78-8F0810281611}" srcOrd="1" destOrd="0" presId="urn:microsoft.com/office/officeart/2016/7/layout/BasicLinearProcessNumbered"/>
    <dgm:cxn modelId="{6E902660-CDF2-4A3A-867E-92E883E81A68}" type="presParOf" srcId="{E583BF9B-6277-4918-9438-7CADD48F4356}" destId="{D443D8DD-6A45-4EB3-A55C-6FD67521D2CA}" srcOrd="2" destOrd="0" presId="urn:microsoft.com/office/officeart/2016/7/layout/BasicLinearProcessNumbered"/>
    <dgm:cxn modelId="{7BD35393-09C0-445A-B0A2-C67BCE944D82}" type="presParOf" srcId="{E583BF9B-6277-4918-9438-7CADD48F4356}" destId="{8AD86637-3E9A-4B26-B083-17BC87BB77EA}" srcOrd="3" destOrd="0" presId="urn:microsoft.com/office/officeart/2016/7/layout/BasicLinearProcessNumbered"/>
    <dgm:cxn modelId="{6A0DA17E-E1F1-4CAC-BF44-DE9CC283C78C}" type="presParOf" srcId="{B0C552EF-6C59-4B57-88FF-B2B95045E54A}" destId="{BE3CFBD7-4316-432B-8D7D-F01606525643}" srcOrd="1" destOrd="0" presId="urn:microsoft.com/office/officeart/2016/7/layout/BasicLinearProcessNumbered"/>
    <dgm:cxn modelId="{92838AE1-C5FA-44C6-AD61-2DDBA5244138}" type="presParOf" srcId="{B0C552EF-6C59-4B57-88FF-B2B95045E54A}" destId="{75DF61C5-5EFB-4F94-BB8F-B4754BBBEEF8}" srcOrd="2" destOrd="0" presId="urn:microsoft.com/office/officeart/2016/7/layout/BasicLinearProcessNumbered"/>
    <dgm:cxn modelId="{42F04648-3F8D-4C12-92B0-02220177C676}" type="presParOf" srcId="{75DF61C5-5EFB-4F94-BB8F-B4754BBBEEF8}" destId="{9E6C0826-ED9A-4A54-AD1C-093743E6EEFD}" srcOrd="0" destOrd="0" presId="urn:microsoft.com/office/officeart/2016/7/layout/BasicLinearProcessNumbered"/>
    <dgm:cxn modelId="{F62FD08B-E290-4E53-9F6A-2A49E2CA215F}" type="presParOf" srcId="{75DF61C5-5EFB-4F94-BB8F-B4754BBBEEF8}" destId="{4724B972-EB8E-41F8-A243-D9AA6943094E}" srcOrd="1" destOrd="0" presId="urn:microsoft.com/office/officeart/2016/7/layout/BasicLinearProcessNumbered"/>
    <dgm:cxn modelId="{9C2A6F15-1B4A-4813-B7B9-7A7C45793016}" type="presParOf" srcId="{75DF61C5-5EFB-4F94-BB8F-B4754BBBEEF8}" destId="{403FD177-B0D2-48D9-AEEB-1E3AA073C107}" srcOrd="2" destOrd="0" presId="urn:microsoft.com/office/officeart/2016/7/layout/BasicLinearProcessNumbered"/>
    <dgm:cxn modelId="{D614F2AC-D5E7-422D-A8DF-D1477C4B082D}" type="presParOf" srcId="{75DF61C5-5EFB-4F94-BB8F-B4754BBBEEF8}" destId="{60F69BF0-9200-434C-ACF0-DDE44AED52BB}" srcOrd="3" destOrd="0" presId="urn:microsoft.com/office/officeart/2016/7/layout/BasicLinearProcessNumbered"/>
    <dgm:cxn modelId="{7C4FD074-ED39-4675-A0B4-B2FA8A4FBBAD}" type="presParOf" srcId="{B0C552EF-6C59-4B57-88FF-B2B95045E54A}" destId="{4410035A-AA26-4F3C-9171-2C4DF691303E}" srcOrd="3" destOrd="0" presId="urn:microsoft.com/office/officeart/2016/7/layout/BasicLinearProcessNumbered"/>
    <dgm:cxn modelId="{12BE1CAE-848B-4268-AB8B-EDB70E6FEEDD}" type="presParOf" srcId="{B0C552EF-6C59-4B57-88FF-B2B95045E54A}" destId="{4D6298C5-3F98-4D74-91FA-22C9B242BD6F}" srcOrd="4" destOrd="0" presId="urn:microsoft.com/office/officeart/2016/7/layout/BasicLinearProcessNumbered"/>
    <dgm:cxn modelId="{8DFF895B-5574-48AF-9D97-ADC7DBF03E6F}" type="presParOf" srcId="{4D6298C5-3F98-4D74-91FA-22C9B242BD6F}" destId="{B0168ED1-5845-4119-86FD-3B9ECB373799}" srcOrd="0" destOrd="0" presId="urn:microsoft.com/office/officeart/2016/7/layout/BasicLinearProcessNumbered"/>
    <dgm:cxn modelId="{20EAF187-44F9-422E-B752-A7900961C13B}" type="presParOf" srcId="{4D6298C5-3F98-4D74-91FA-22C9B242BD6F}" destId="{2782B6B2-5071-4ED4-A22E-ED5E44652DD6}" srcOrd="1" destOrd="0" presId="urn:microsoft.com/office/officeart/2016/7/layout/BasicLinearProcessNumbered"/>
    <dgm:cxn modelId="{B94363CB-90C3-4A7E-AC48-BC835C676F57}" type="presParOf" srcId="{4D6298C5-3F98-4D74-91FA-22C9B242BD6F}" destId="{B3409B1B-F176-43F6-B20E-5D839FB620FE}" srcOrd="2" destOrd="0" presId="urn:microsoft.com/office/officeart/2016/7/layout/BasicLinearProcessNumbered"/>
    <dgm:cxn modelId="{FFF9DC81-F6F0-46A8-A9FC-78DDD6501ACF}" type="presParOf" srcId="{4D6298C5-3F98-4D74-91FA-22C9B242BD6F}" destId="{004B5DB9-A774-4A77-A3D4-AE57C29984BB}" srcOrd="3" destOrd="0" presId="urn:microsoft.com/office/officeart/2016/7/layout/BasicLinearProcessNumbered"/>
    <dgm:cxn modelId="{008598A8-325E-45D0-A66A-6AE89B280425}" type="presParOf" srcId="{B0C552EF-6C59-4B57-88FF-B2B95045E54A}" destId="{65917395-0548-4DFE-A4BB-44DDBE88A304}" srcOrd="5" destOrd="0" presId="urn:microsoft.com/office/officeart/2016/7/layout/BasicLinearProcessNumbered"/>
    <dgm:cxn modelId="{0A677C1B-CABE-44E8-8286-6C2A1AE07ACC}" type="presParOf" srcId="{B0C552EF-6C59-4B57-88FF-B2B95045E54A}" destId="{043F0BF9-23DE-47D7-8513-F83F8AE88B5F}" srcOrd="6" destOrd="0" presId="urn:microsoft.com/office/officeart/2016/7/layout/BasicLinearProcessNumbered"/>
    <dgm:cxn modelId="{D48B46E2-F9B3-45FB-A1BD-1BF06EC4277C}" type="presParOf" srcId="{043F0BF9-23DE-47D7-8513-F83F8AE88B5F}" destId="{5CFF0C39-444B-4342-B250-54ABEBEB0685}" srcOrd="0" destOrd="0" presId="urn:microsoft.com/office/officeart/2016/7/layout/BasicLinearProcessNumbered"/>
    <dgm:cxn modelId="{FADBEC98-3A02-45CA-B52D-20410F50D416}" type="presParOf" srcId="{043F0BF9-23DE-47D7-8513-F83F8AE88B5F}" destId="{7BC5105E-E954-4877-8E0D-0837768230B1}" srcOrd="1" destOrd="0" presId="urn:microsoft.com/office/officeart/2016/7/layout/BasicLinearProcessNumbered"/>
    <dgm:cxn modelId="{2EE99AD7-B4D3-4CC9-9510-03C91C76E5C6}" type="presParOf" srcId="{043F0BF9-23DE-47D7-8513-F83F8AE88B5F}" destId="{E3C44A68-A614-40A4-ADC0-E241D4A78EA2}" srcOrd="2" destOrd="0" presId="urn:microsoft.com/office/officeart/2016/7/layout/BasicLinearProcessNumbered"/>
    <dgm:cxn modelId="{AF9A8134-9483-4323-A10A-983D90A24DED}" type="presParOf" srcId="{043F0BF9-23DE-47D7-8513-F83F8AE88B5F}" destId="{41E1D170-784C-4DD7-9283-BABBB311123F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287B087-559B-4C09-B486-75EEFE0A71F4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0A4BD5D4-6ADE-4CE4-920D-1176B45FEBD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Millions remain outside formal financial systems.</a:t>
          </a:r>
        </a:p>
      </dgm:t>
    </dgm:pt>
    <dgm:pt modelId="{1F5A60AD-ADFE-403C-8106-2EA50B965558}" type="parTrans" cxnId="{1B26B084-9654-451B-9E96-2E1366B65336}">
      <dgm:prSet/>
      <dgm:spPr/>
      <dgm:t>
        <a:bodyPr/>
        <a:lstStyle/>
        <a:p>
          <a:endParaRPr lang="en-US"/>
        </a:p>
      </dgm:t>
    </dgm:pt>
    <dgm:pt modelId="{13BC6A8D-0D72-441F-AEF7-01EE2F299727}" type="sibTrans" cxnId="{1B26B084-9654-451B-9E96-2E1366B65336}">
      <dgm:prSet/>
      <dgm:spPr/>
      <dgm:t>
        <a:bodyPr/>
        <a:lstStyle/>
        <a:p>
          <a:endParaRPr lang="en-US"/>
        </a:p>
      </dgm:t>
    </dgm:pt>
    <dgm:pt modelId="{54657AFD-AE63-413F-AE2C-EE573E2B2A2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Financial exclusion limits economic growth and resilience.</a:t>
          </a:r>
        </a:p>
      </dgm:t>
    </dgm:pt>
    <dgm:pt modelId="{A8644363-1F6A-4128-A6A2-9E7AAE1A7A0B}" type="parTrans" cxnId="{7BC7C981-BB1C-489B-A0E2-8530E40DD31C}">
      <dgm:prSet/>
      <dgm:spPr/>
      <dgm:t>
        <a:bodyPr/>
        <a:lstStyle/>
        <a:p>
          <a:endParaRPr lang="en-US"/>
        </a:p>
      </dgm:t>
    </dgm:pt>
    <dgm:pt modelId="{BC335362-BCA6-4FD7-B15C-4344178A1592}" type="sibTrans" cxnId="{7BC7C981-BB1C-489B-A0E2-8530E40DD31C}">
      <dgm:prSet/>
      <dgm:spPr/>
      <dgm:t>
        <a:bodyPr/>
        <a:lstStyle/>
        <a:p>
          <a:endParaRPr lang="en-US"/>
        </a:p>
      </dgm:t>
    </dgm:pt>
    <dgm:pt modelId="{934EB778-7A1F-4D1B-8D2F-F55FB5A6BD4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Manual identification of high-risk groups is inefficient.</a:t>
          </a:r>
        </a:p>
      </dgm:t>
    </dgm:pt>
    <dgm:pt modelId="{5304FB00-7F45-487D-9CC2-5211F707949F}" type="parTrans" cxnId="{19E362B2-85D5-415A-8960-5AF936691389}">
      <dgm:prSet/>
      <dgm:spPr/>
      <dgm:t>
        <a:bodyPr/>
        <a:lstStyle/>
        <a:p>
          <a:endParaRPr lang="en-US"/>
        </a:p>
      </dgm:t>
    </dgm:pt>
    <dgm:pt modelId="{E672EAF2-62EE-4C42-B72A-89D617B0CAE2}" type="sibTrans" cxnId="{19E362B2-85D5-415A-8960-5AF936691389}">
      <dgm:prSet/>
      <dgm:spPr/>
      <dgm:t>
        <a:bodyPr/>
        <a:lstStyle/>
        <a:p>
          <a:endParaRPr lang="en-US"/>
        </a:p>
      </dgm:t>
    </dgm:pt>
    <dgm:pt modelId="{3D4DA24F-2ED7-442E-9AB9-0E346C3FA919}" type="pres">
      <dgm:prSet presAssocID="{B287B087-559B-4C09-B486-75EEFE0A71F4}" presName="root" presStyleCnt="0">
        <dgm:presLayoutVars>
          <dgm:dir/>
          <dgm:resizeHandles val="exact"/>
        </dgm:presLayoutVars>
      </dgm:prSet>
      <dgm:spPr/>
    </dgm:pt>
    <dgm:pt modelId="{5A4278E6-8737-45EB-B1B0-2A362845092F}" type="pres">
      <dgm:prSet presAssocID="{0A4BD5D4-6ADE-4CE4-920D-1176B45FEBD5}" presName="compNode" presStyleCnt="0"/>
      <dgm:spPr/>
    </dgm:pt>
    <dgm:pt modelId="{D9F05DBC-7CAC-4ACA-9FBB-9B471035CCD6}" type="pres">
      <dgm:prSet presAssocID="{0A4BD5D4-6ADE-4CE4-920D-1176B45FEBD5}" presName="bgRect" presStyleLbl="bgShp" presStyleIdx="0" presStyleCnt="3"/>
      <dgm:spPr/>
    </dgm:pt>
    <dgm:pt modelId="{3D66460D-4253-4D0F-A888-8D6EC59C2287}" type="pres">
      <dgm:prSet presAssocID="{0A4BD5D4-6ADE-4CE4-920D-1176B45FEBD5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old bars"/>
        </a:ext>
      </dgm:extLst>
    </dgm:pt>
    <dgm:pt modelId="{8AA3B6BF-9011-46A3-9493-863B11C7218F}" type="pres">
      <dgm:prSet presAssocID="{0A4BD5D4-6ADE-4CE4-920D-1176B45FEBD5}" presName="spaceRect" presStyleCnt="0"/>
      <dgm:spPr/>
    </dgm:pt>
    <dgm:pt modelId="{0E241805-7B3F-46D7-8B00-A9832ADEFC40}" type="pres">
      <dgm:prSet presAssocID="{0A4BD5D4-6ADE-4CE4-920D-1176B45FEBD5}" presName="parTx" presStyleLbl="revTx" presStyleIdx="0" presStyleCnt="3">
        <dgm:presLayoutVars>
          <dgm:chMax val="0"/>
          <dgm:chPref val="0"/>
        </dgm:presLayoutVars>
      </dgm:prSet>
      <dgm:spPr/>
    </dgm:pt>
    <dgm:pt modelId="{21EA946D-E088-48D9-9B5F-05CA6B022B65}" type="pres">
      <dgm:prSet presAssocID="{13BC6A8D-0D72-441F-AEF7-01EE2F299727}" presName="sibTrans" presStyleCnt="0"/>
      <dgm:spPr/>
    </dgm:pt>
    <dgm:pt modelId="{037D2801-9553-429F-A013-DE8527245C83}" type="pres">
      <dgm:prSet presAssocID="{54657AFD-AE63-413F-AE2C-EE573E2B2A28}" presName="compNode" presStyleCnt="0"/>
      <dgm:spPr/>
    </dgm:pt>
    <dgm:pt modelId="{BCBFDAC9-4599-4E59-B7C8-E23856BACD65}" type="pres">
      <dgm:prSet presAssocID="{54657AFD-AE63-413F-AE2C-EE573E2B2A28}" presName="bgRect" presStyleLbl="bgShp" presStyleIdx="1" presStyleCnt="3"/>
      <dgm:spPr/>
    </dgm:pt>
    <dgm:pt modelId="{FA91C397-ACB0-484D-ADCD-6961CBFFF61E}" type="pres">
      <dgm:prSet presAssocID="{54657AFD-AE63-413F-AE2C-EE573E2B2A28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CB6C4BFF-78C0-49B9-91FA-A8F785860DBA}" type="pres">
      <dgm:prSet presAssocID="{54657AFD-AE63-413F-AE2C-EE573E2B2A28}" presName="spaceRect" presStyleCnt="0"/>
      <dgm:spPr/>
    </dgm:pt>
    <dgm:pt modelId="{6118910D-ECA2-4551-978A-9E9552EE34C4}" type="pres">
      <dgm:prSet presAssocID="{54657AFD-AE63-413F-AE2C-EE573E2B2A28}" presName="parTx" presStyleLbl="revTx" presStyleIdx="1" presStyleCnt="3">
        <dgm:presLayoutVars>
          <dgm:chMax val="0"/>
          <dgm:chPref val="0"/>
        </dgm:presLayoutVars>
      </dgm:prSet>
      <dgm:spPr/>
    </dgm:pt>
    <dgm:pt modelId="{B601C98B-A0A1-47AA-8462-4C371BF4DC79}" type="pres">
      <dgm:prSet presAssocID="{BC335362-BCA6-4FD7-B15C-4344178A1592}" presName="sibTrans" presStyleCnt="0"/>
      <dgm:spPr/>
    </dgm:pt>
    <dgm:pt modelId="{9069A8A0-9A17-4ADC-BB37-38F57E6C6C8C}" type="pres">
      <dgm:prSet presAssocID="{934EB778-7A1F-4D1B-8D2F-F55FB5A6BD4A}" presName="compNode" presStyleCnt="0"/>
      <dgm:spPr/>
    </dgm:pt>
    <dgm:pt modelId="{4E59A8B7-3C20-4FFC-8CB2-5EEA23678C2E}" type="pres">
      <dgm:prSet presAssocID="{934EB778-7A1F-4D1B-8D2F-F55FB5A6BD4A}" presName="bgRect" presStyleLbl="bgShp" presStyleIdx="2" presStyleCnt="3"/>
      <dgm:spPr/>
    </dgm:pt>
    <dgm:pt modelId="{2BAAD5CD-7E91-4137-BD45-1F4598C332D9}" type="pres">
      <dgm:prSet presAssocID="{934EB778-7A1F-4D1B-8D2F-F55FB5A6BD4A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roup of People"/>
        </a:ext>
      </dgm:extLst>
    </dgm:pt>
    <dgm:pt modelId="{85A55F16-F0BA-41E3-B636-3DE0C0EEC7B2}" type="pres">
      <dgm:prSet presAssocID="{934EB778-7A1F-4D1B-8D2F-F55FB5A6BD4A}" presName="spaceRect" presStyleCnt="0"/>
      <dgm:spPr/>
    </dgm:pt>
    <dgm:pt modelId="{FA6E773A-2874-4B02-AE9D-B589D2C869B5}" type="pres">
      <dgm:prSet presAssocID="{934EB778-7A1F-4D1B-8D2F-F55FB5A6BD4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F947F924-39BF-4369-AC38-82E88201324F}" type="presOf" srcId="{0A4BD5D4-6ADE-4CE4-920D-1176B45FEBD5}" destId="{0E241805-7B3F-46D7-8B00-A9832ADEFC40}" srcOrd="0" destOrd="0" presId="urn:microsoft.com/office/officeart/2018/2/layout/IconVerticalSolidList"/>
    <dgm:cxn modelId="{1E18EB30-35C3-46F9-91DA-2676C8BD5D36}" type="presOf" srcId="{54657AFD-AE63-413F-AE2C-EE573E2B2A28}" destId="{6118910D-ECA2-4551-978A-9E9552EE34C4}" srcOrd="0" destOrd="0" presId="urn:microsoft.com/office/officeart/2018/2/layout/IconVerticalSolidList"/>
    <dgm:cxn modelId="{CB734D63-6176-4F06-AF95-751F199F133A}" type="presOf" srcId="{934EB778-7A1F-4D1B-8D2F-F55FB5A6BD4A}" destId="{FA6E773A-2874-4B02-AE9D-B589D2C869B5}" srcOrd="0" destOrd="0" presId="urn:microsoft.com/office/officeart/2018/2/layout/IconVerticalSolidList"/>
    <dgm:cxn modelId="{7BC7C981-BB1C-489B-A0E2-8530E40DD31C}" srcId="{B287B087-559B-4C09-B486-75EEFE0A71F4}" destId="{54657AFD-AE63-413F-AE2C-EE573E2B2A28}" srcOrd="1" destOrd="0" parTransId="{A8644363-1F6A-4128-A6A2-9E7AAE1A7A0B}" sibTransId="{BC335362-BCA6-4FD7-B15C-4344178A1592}"/>
    <dgm:cxn modelId="{1B26B084-9654-451B-9E96-2E1366B65336}" srcId="{B287B087-559B-4C09-B486-75EEFE0A71F4}" destId="{0A4BD5D4-6ADE-4CE4-920D-1176B45FEBD5}" srcOrd="0" destOrd="0" parTransId="{1F5A60AD-ADFE-403C-8106-2EA50B965558}" sibTransId="{13BC6A8D-0D72-441F-AEF7-01EE2F299727}"/>
    <dgm:cxn modelId="{19E362B2-85D5-415A-8960-5AF936691389}" srcId="{B287B087-559B-4C09-B486-75EEFE0A71F4}" destId="{934EB778-7A1F-4D1B-8D2F-F55FB5A6BD4A}" srcOrd="2" destOrd="0" parTransId="{5304FB00-7F45-487D-9CC2-5211F707949F}" sibTransId="{E672EAF2-62EE-4C42-B72A-89D617B0CAE2}"/>
    <dgm:cxn modelId="{6B896EB3-C13B-43CD-BA6B-174754C8E4CE}" type="presOf" srcId="{B287B087-559B-4C09-B486-75EEFE0A71F4}" destId="{3D4DA24F-2ED7-442E-9AB9-0E346C3FA919}" srcOrd="0" destOrd="0" presId="urn:microsoft.com/office/officeart/2018/2/layout/IconVerticalSolidList"/>
    <dgm:cxn modelId="{B4B03332-3F5F-4D6C-BDDE-1AD8523D5B43}" type="presParOf" srcId="{3D4DA24F-2ED7-442E-9AB9-0E346C3FA919}" destId="{5A4278E6-8737-45EB-B1B0-2A362845092F}" srcOrd="0" destOrd="0" presId="urn:microsoft.com/office/officeart/2018/2/layout/IconVerticalSolidList"/>
    <dgm:cxn modelId="{47F79B6A-A09F-41C6-9568-9AA2A195AEE9}" type="presParOf" srcId="{5A4278E6-8737-45EB-B1B0-2A362845092F}" destId="{D9F05DBC-7CAC-4ACA-9FBB-9B471035CCD6}" srcOrd="0" destOrd="0" presId="urn:microsoft.com/office/officeart/2018/2/layout/IconVerticalSolidList"/>
    <dgm:cxn modelId="{1057683F-29D1-46C4-B0C9-79A167C86C5A}" type="presParOf" srcId="{5A4278E6-8737-45EB-B1B0-2A362845092F}" destId="{3D66460D-4253-4D0F-A888-8D6EC59C2287}" srcOrd="1" destOrd="0" presId="urn:microsoft.com/office/officeart/2018/2/layout/IconVerticalSolidList"/>
    <dgm:cxn modelId="{790B1705-002E-470A-AB6D-B3F4F0D7F92C}" type="presParOf" srcId="{5A4278E6-8737-45EB-B1B0-2A362845092F}" destId="{8AA3B6BF-9011-46A3-9493-863B11C7218F}" srcOrd="2" destOrd="0" presId="urn:microsoft.com/office/officeart/2018/2/layout/IconVerticalSolidList"/>
    <dgm:cxn modelId="{74D2C37F-8112-404B-AC5D-58DA477C1988}" type="presParOf" srcId="{5A4278E6-8737-45EB-B1B0-2A362845092F}" destId="{0E241805-7B3F-46D7-8B00-A9832ADEFC40}" srcOrd="3" destOrd="0" presId="urn:microsoft.com/office/officeart/2018/2/layout/IconVerticalSolidList"/>
    <dgm:cxn modelId="{3FB02174-D313-495B-8B16-1F64C18C9B97}" type="presParOf" srcId="{3D4DA24F-2ED7-442E-9AB9-0E346C3FA919}" destId="{21EA946D-E088-48D9-9B5F-05CA6B022B65}" srcOrd="1" destOrd="0" presId="urn:microsoft.com/office/officeart/2018/2/layout/IconVerticalSolidList"/>
    <dgm:cxn modelId="{DE0F8C6D-F788-4B0C-9B80-BAE98ACDE71A}" type="presParOf" srcId="{3D4DA24F-2ED7-442E-9AB9-0E346C3FA919}" destId="{037D2801-9553-429F-A013-DE8527245C83}" srcOrd="2" destOrd="0" presId="urn:microsoft.com/office/officeart/2018/2/layout/IconVerticalSolidList"/>
    <dgm:cxn modelId="{5D1BA549-427B-4F21-9EAB-D2E41FB5DFD2}" type="presParOf" srcId="{037D2801-9553-429F-A013-DE8527245C83}" destId="{BCBFDAC9-4599-4E59-B7C8-E23856BACD65}" srcOrd="0" destOrd="0" presId="urn:microsoft.com/office/officeart/2018/2/layout/IconVerticalSolidList"/>
    <dgm:cxn modelId="{FBC236ED-5E29-4E59-8CF8-F6CC44EF3B69}" type="presParOf" srcId="{037D2801-9553-429F-A013-DE8527245C83}" destId="{FA91C397-ACB0-484D-ADCD-6961CBFFF61E}" srcOrd="1" destOrd="0" presId="urn:microsoft.com/office/officeart/2018/2/layout/IconVerticalSolidList"/>
    <dgm:cxn modelId="{2088C73C-8DEA-4EA3-99A7-B3F8C9FA5AB8}" type="presParOf" srcId="{037D2801-9553-429F-A013-DE8527245C83}" destId="{CB6C4BFF-78C0-49B9-91FA-A8F785860DBA}" srcOrd="2" destOrd="0" presId="urn:microsoft.com/office/officeart/2018/2/layout/IconVerticalSolidList"/>
    <dgm:cxn modelId="{A5B0FAD7-B458-45FD-9A86-EE940B2920DE}" type="presParOf" srcId="{037D2801-9553-429F-A013-DE8527245C83}" destId="{6118910D-ECA2-4551-978A-9E9552EE34C4}" srcOrd="3" destOrd="0" presId="urn:microsoft.com/office/officeart/2018/2/layout/IconVerticalSolidList"/>
    <dgm:cxn modelId="{86F934DD-E09D-4D05-AE9F-7CD7AC37642E}" type="presParOf" srcId="{3D4DA24F-2ED7-442E-9AB9-0E346C3FA919}" destId="{B601C98B-A0A1-47AA-8462-4C371BF4DC79}" srcOrd="3" destOrd="0" presId="urn:microsoft.com/office/officeart/2018/2/layout/IconVerticalSolidList"/>
    <dgm:cxn modelId="{39859D0D-8022-4354-948A-D0577267DD25}" type="presParOf" srcId="{3D4DA24F-2ED7-442E-9AB9-0E346C3FA919}" destId="{9069A8A0-9A17-4ADC-BB37-38F57E6C6C8C}" srcOrd="4" destOrd="0" presId="urn:microsoft.com/office/officeart/2018/2/layout/IconVerticalSolidList"/>
    <dgm:cxn modelId="{6400E546-EAAA-46A8-B31C-07FB6F019732}" type="presParOf" srcId="{9069A8A0-9A17-4ADC-BB37-38F57E6C6C8C}" destId="{4E59A8B7-3C20-4FFC-8CB2-5EEA23678C2E}" srcOrd="0" destOrd="0" presId="urn:microsoft.com/office/officeart/2018/2/layout/IconVerticalSolidList"/>
    <dgm:cxn modelId="{E5FE9A99-A719-4E6E-84C1-697CD28C0AAA}" type="presParOf" srcId="{9069A8A0-9A17-4ADC-BB37-38F57E6C6C8C}" destId="{2BAAD5CD-7E91-4137-BD45-1F4598C332D9}" srcOrd="1" destOrd="0" presId="urn:microsoft.com/office/officeart/2018/2/layout/IconVerticalSolidList"/>
    <dgm:cxn modelId="{E8A83DBA-C458-4848-9DEB-7D21C327CCC7}" type="presParOf" srcId="{9069A8A0-9A17-4ADC-BB37-38F57E6C6C8C}" destId="{85A55F16-F0BA-41E3-B636-3DE0C0EEC7B2}" srcOrd="2" destOrd="0" presId="urn:microsoft.com/office/officeart/2018/2/layout/IconVerticalSolidList"/>
    <dgm:cxn modelId="{0DEF3461-24D0-4649-B773-6E373A9E499D}" type="presParOf" srcId="{9069A8A0-9A17-4ADC-BB37-38F57E6C6C8C}" destId="{FA6E773A-2874-4B02-AE9D-B589D2C869B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7B9D9D1-07E0-48FB-985A-AFDF6D873A25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1102B049-5C49-462E-BC5A-984E8E19614A}">
      <dgm:prSet/>
      <dgm:spPr/>
      <dgm:t>
        <a:bodyPr/>
        <a:lstStyle/>
        <a:p>
          <a:r>
            <a:rPr lang="en-US"/>
            <a:t>Missing categorical values filled using most frequent category.</a:t>
          </a:r>
        </a:p>
      </dgm:t>
    </dgm:pt>
    <dgm:pt modelId="{AF06ECE3-5DE7-4153-A1F2-8C1031EBCA8C}" type="parTrans" cxnId="{9068C2F4-FADD-4FCC-8BE0-0BEF2B9F0158}">
      <dgm:prSet/>
      <dgm:spPr/>
      <dgm:t>
        <a:bodyPr/>
        <a:lstStyle/>
        <a:p>
          <a:endParaRPr lang="en-US"/>
        </a:p>
      </dgm:t>
    </dgm:pt>
    <dgm:pt modelId="{DA32C2E2-380B-4FC6-98BC-3D8DFD87B961}" type="sibTrans" cxnId="{9068C2F4-FADD-4FCC-8BE0-0BEF2B9F0158}">
      <dgm:prSet/>
      <dgm:spPr/>
      <dgm:t>
        <a:bodyPr/>
        <a:lstStyle/>
        <a:p>
          <a:endParaRPr lang="en-US"/>
        </a:p>
      </dgm:t>
    </dgm:pt>
    <dgm:pt modelId="{71484E3B-2BD0-4F96-B2E9-4CA8B4614668}">
      <dgm:prSet/>
      <dgm:spPr/>
      <dgm:t>
        <a:bodyPr/>
        <a:lstStyle/>
        <a:p>
          <a:r>
            <a:rPr lang="en-US"/>
            <a:t>Missing numerical values filled using median imputation.</a:t>
          </a:r>
        </a:p>
      </dgm:t>
    </dgm:pt>
    <dgm:pt modelId="{966862DF-D050-4959-9901-2E8C8AFFD359}" type="parTrans" cxnId="{7EDEA1FB-85D3-4D4D-BD13-1EBDE1E1EE32}">
      <dgm:prSet/>
      <dgm:spPr/>
      <dgm:t>
        <a:bodyPr/>
        <a:lstStyle/>
        <a:p>
          <a:endParaRPr lang="en-US"/>
        </a:p>
      </dgm:t>
    </dgm:pt>
    <dgm:pt modelId="{A6EDF2F0-7803-46D1-AA50-B062D49F0A1B}" type="sibTrans" cxnId="{7EDEA1FB-85D3-4D4D-BD13-1EBDE1E1EE32}">
      <dgm:prSet/>
      <dgm:spPr/>
      <dgm:t>
        <a:bodyPr/>
        <a:lstStyle/>
        <a:p>
          <a:endParaRPr lang="en-US"/>
        </a:p>
      </dgm:t>
    </dgm:pt>
    <dgm:pt modelId="{17ED4EE3-2D64-4953-A64C-8E33E27AD2FA}">
      <dgm:prSet/>
      <dgm:spPr/>
      <dgm:t>
        <a:bodyPr/>
        <a:lstStyle/>
        <a:p>
          <a:r>
            <a:rPr lang="en-US"/>
            <a:t>OneHotEncoder transformed categorical variables.</a:t>
          </a:r>
        </a:p>
      </dgm:t>
    </dgm:pt>
    <dgm:pt modelId="{02D9FA15-4541-4156-A5BE-AD4E4000E101}" type="parTrans" cxnId="{49E0410A-A126-4330-9857-4B4AAC49ABC8}">
      <dgm:prSet/>
      <dgm:spPr/>
      <dgm:t>
        <a:bodyPr/>
        <a:lstStyle/>
        <a:p>
          <a:endParaRPr lang="en-US"/>
        </a:p>
      </dgm:t>
    </dgm:pt>
    <dgm:pt modelId="{1E2F220B-4654-433A-B738-C346C14D10F1}" type="sibTrans" cxnId="{49E0410A-A126-4330-9857-4B4AAC49ABC8}">
      <dgm:prSet/>
      <dgm:spPr/>
      <dgm:t>
        <a:bodyPr/>
        <a:lstStyle/>
        <a:p>
          <a:endParaRPr lang="en-US"/>
        </a:p>
      </dgm:t>
    </dgm:pt>
    <dgm:pt modelId="{17EFAF28-F81C-4798-9784-088D7B258CCA}">
      <dgm:prSet/>
      <dgm:spPr/>
      <dgm:t>
        <a:bodyPr/>
        <a:lstStyle/>
        <a:p>
          <a:r>
            <a:rPr lang="en-US"/>
            <a:t>StandardScaler normalized numerical features.</a:t>
          </a:r>
        </a:p>
      </dgm:t>
    </dgm:pt>
    <dgm:pt modelId="{F60F71F3-5A8B-47C9-991F-C238A4E77AED}" type="parTrans" cxnId="{565331C1-53B5-4341-A75B-B4AEFAC3B2EE}">
      <dgm:prSet/>
      <dgm:spPr/>
      <dgm:t>
        <a:bodyPr/>
        <a:lstStyle/>
        <a:p>
          <a:endParaRPr lang="en-US"/>
        </a:p>
      </dgm:t>
    </dgm:pt>
    <dgm:pt modelId="{C8B402BE-C368-4FAF-B3A2-5DB1D518374A}" type="sibTrans" cxnId="{565331C1-53B5-4341-A75B-B4AEFAC3B2EE}">
      <dgm:prSet/>
      <dgm:spPr/>
      <dgm:t>
        <a:bodyPr/>
        <a:lstStyle/>
        <a:p>
          <a:endParaRPr lang="en-US"/>
        </a:p>
      </dgm:t>
    </dgm:pt>
    <dgm:pt modelId="{229FC502-CB5D-4905-AA58-72498B48F4E6}" type="pres">
      <dgm:prSet presAssocID="{C7B9D9D1-07E0-48FB-985A-AFDF6D873A25}" presName="linear" presStyleCnt="0">
        <dgm:presLayoutVars>
          <dgm:animLvl val="lvl"/>
          <dgm:resizeHandles val="exact"/>
        </dgm:presLayoutVars>
      </dgm:prSet>
      <dgm:spPr/>
    </dgm:pt>
    <dgm:pt modelId="{7499792B-157E-44D0-AE4C-96C4F85F8EBB}" type="pres">
      <dgm:prSet presAssocID="{1102B049-5C49-462E-BC5A-984E8E19614A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0852E8F1-EEC8-486D-85B3-B9030887FA79}" type="pres">
      <dgm:prSet presAssocID="{DA32C2E2-380B-4FC6-98BC-3D8DFD87B961}" presName="spacer" presStyleCnt="0"/>
      <dgm:spPr/>
    </dgm:pt>
    <dgm:pt modelId="{4EDD3C6C-1661-4E73-A955-4FACABDBDAFE}" type="pres">
      <dgm:prSet presAssocID="{71484E3B-2BD0-4F96-B2E9-4CA8B4614668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83D01D08-B492-4890-A6C0-4AC96796705C}" type="pres">
      <dgm:prSet presAssocID="{A6EDF2F0-7803-46D1-AA50-B062D49F0A1B}" presName="spacer" presStyleCnt="0"/>
      <dgm:spPr/>
    </dgm:pt>
    <dgm:pt modelId="{3A50BC03-F7EB-48CD-B7D9-C310EA3F9A68}" type="pres">
      <dgm:prSet presAssocID="{17ED4EE3-2D64-4953-A64C-8E33E27AD2FA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D72E9AA8-5746-4995-83AC-BADC48343C3B}" type="pres">
      <dgm:prSet presAssocID="{1E2F220B-4654-433A-B738-C346C14D10F1}" presName="spacer" presStyleCnt="0"/>
      <dgm:spPr/>
    </dgm:pt>
    <dgm:pt modelId="{7EAB94C0-2395-4B33-B7E6-6E8F72420453}" type="pres">
      <dgm:prSet presAssocID="{17EFAF28-F81C-4798-9784-088D7B258CCA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7EFFF605-9619-4DC7-BE25-4269314DF476}" type="presOf" srcId="{C7B9D9D1-07E0-48FB-985A-AFDF6D873A25}" destId="{229FC502-CB5D-4905-AA58-72498B48F4E6}" srcOrd="0" destOrd="0" presId="urn:microsoft.com/office/officeart/2005/8/layout/vList2"/>
    <dgm:cxn modelId="{49E0410A-A126-4330-9857-4B4AAC49ABC8}" srcId="{C7B9D9D1-07E0-48FB-985A-AFDF6D873A25}" destId="{17ED4EE3-2D64-4953-A64C-8E33E27AD2FA}" srcOrd="2" destOrd="0" parTransId="{02D9FA15-4541-4156-A5BE-AD4E4000E101}" sibTransId="{1E2F220B-4654-433A-B738-C346C14D10F1}"/>
    <dgm:cxn modelId="{5BF6E01B-8840-42B4-B69F-72BEC6436E8D}" type="presOf" srcId="{1102B049-5C49-462E-BC5A-984E8E19614A}" destId="{7499792B-157E-44D0-AE4C-96C4F85F8EBB}" srcOrd="0" destOrd="0" presId="urn:microsoft.com/office/officeart/2005/8/layout/vList2"/>
    <dgm:cxn modelId="{22A9E662-66DE-48EC-94CE-D6050AB1461E}" type="presOf" srcId="{71484E3B-2BD0-4F96-B2E9-4CA8B4614668}" destId="{4EDD3C6C-1661-4E73-A955-4FACABDBDAFE}" srcOrd="0" destOrd="0" presId="urn:microsoft.com/office/officeart/2005/8/layout/vList2"/>
    <dgm:cxn modelId="{612F3D92-FB2F-412A-AF79-0795A35B742F}" type="presOf" srcId="{17EFAF28-F81C-4798-9784-088D7B258CCA}" destId="{7EAB94C0-2395-4B33-B7E6-6E8F72420453}" srcOrd="0" destOrd="0" presId="urn:microsoft.com/office/officeart/2005/8/layout/vList2"/>
    <dgm:cxn modelId="{565331C1-53B5-4341-A75B-B4AEFAC3B2EE}" srcId="{C7B9D9D1-07E0-48FB-985A-AFDF6D873A25}" destId="{17EFAF28-F81C-4798-9784-088D7B258CCA}" srcOrd="3" destOrd="0" parTransId="{F60F71F3-5A8B-47C9-991F-C238A4E77AED}" sibTransId="{C8B402BE-C368-4FAF-B3A2-5DB1D518374A}"/>
    <dgm:cxn modelId="{BCC42BE1-41C8-4405-A612-296C76EA41E7}" type="presOf" srcId="{17ED4EE3-2D64-4953-A64C-8E33E27AD2FA}" destId="{3A50BC03-F7EB-48CD-B7D9-C310EA3F9A68}" srcOrd="0" destOrd="0" presId="urn:microsoft.com/office/officeart/2005/8/layout/vList2"/>
    <dgm:cxn modelId="{9068C2F4-FADD-4FCC-8BE0-0BEF2B9F0158}" srcId="{C7B9D9D1-07E0-48FB-985A-AFDF6D873A25}" destId="{1102B049-5C49-462E-BC5A-984E8E19614A}" srcOrd="0" destOrd="0" parTransId="{AF06ECE3-5DE7-4153-A1F2-8C1031EBCA8C}" sibTransId="{DA32C2E2-380B-4FC6-98BC-3D8DFD87B961}"/>
    <dgm:cxn modelId="{7EDEA1FB-85D3-4D4D-BD13-1EBDE1E1EE32}" srcId="{C7B9D9D1-07E0-48FB-985A-AFDF6D873A25}" destId="{71484E3B-2BD0-4F96-B2E9-4CA8B4614668}" srcOrd="1" destOrd="0" parTransId="{966862DF-D050-4959-9901-2E8C8AFFD359}" sibTransId="{A6EDF2F0-7803-46D1-AA50-B062D49F0A1B}"/>
    <dgm:cxn modelId="{C1B4ECB8-C60D-415A-8586-CB73258ED367}" type="presParOf" srcId="{229FC502-CB5D-4905-AA58-72498B48F4E6}" destId="{7499792B-157E-44D0-AE4C-96C4F85F8EBB}" srcOrd="0" destOrd="0" presId="urn:microsoft.com/office/officeart/2005/8/layout/vList2"/>
    <dgm:cxn modelId="{660BF9B4-DD43-40D3-B601-89C7AFCED731}" type="presParOf" srcId="{229FC502-CB5D-4905-AA58-72498B48F4E6}" destId="{0852E8F1-EEC8-486D-85B3-B9030887FA79}" srcOrd="1" destOrd="0" presId="urn:microsoft.com/office/officeart/2005/8/layout/vList2"/>
    <dgm:cxn modelId="{DEFB97B7-EA82-4893-85E7-77FABF936268}" type="presParOf" srcId="{229FC502-CB5D-4905-AA58-72498B48F4E6}" destId="{4EDD3C6C-1661-4E73-A955-4FACABDBDAFE}" srcOrd="2" destOrd="0" presId="urn:microsoft.com/office/officeart/2005/8/layout/vList2"/>
    <dgm:cxn modelId="{ECB46619-CC62-46DC-B958-B9DB994D94E6}" type="presParOf" srcId="{229FC502-CB5D-4905-AA58-72498B48F4E6}" destId="{83D01D08-B492-4890-A6C0-4AC96796705C}" srcOrd="3" destOrd="0" presId="urn:microsoft.com/office/officeart/2005/8/layout/vList2"/>
    <dgm:cxn modelId="{009B59B8-4872-41ED-AB97-17BAD1D16292}" type="presParOf" srcId="{229FC502-CB5D-4905-AA58-72498B48F4E6}" destId="{3A50BC03-F7EB-48CD-B7D9-C310EA3F9A68}" srcOrd="4" destOrd="0" presId="urn:microsoft.com/office/officeart/2005/8/layout/vList2"/>
    <dgm:cxn modelId="{9655CB9B-9FF3-4EE3-9C85-65E468A6714C}" type="presParOf" srcId="{229FC502-CB5D-4905-AA58-72498B48F4E6}" destId="{D72E9AA8-5746-4995-83AC-BADC48343C3B}" srcOrd="5" destOrd="0" presId="urn:microsoft.com/office/officeart/2005/8/layout/vList2"/>
    <dgm:cxn modelId="{93F8D57E-CA84-4135-9745-3FF831A786BB}" type="presParOf" srcId="{229FC502-CB5D-4905-AA58-72498B48F4E6}" destId="{7EAB94C0-2395-4B33-B7E6-6E8F72420453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E1E269E-303A-478B-8661-E9D1CF1C33CF}" type="doc">
      <dgm:prSet loTypeId="urn:microsoft.com/office/officeart/2008/layout/AlternatingHexagons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6594072-296E-49EC-ADF2-E66EAB0504A3}">
      <dgm:prSet/>
      <dgm:spPr/>
      <dgm:t>
        <a:bodyPr/>
        <a:lstStyle/>
        <a:p>
          <a:r>
            <a:rPr lang="en-US"/>
            <a:t>Ensures clean and consistent input data.</a:t>
          </a:r>
        </a:p>
      </dgm:t>
    </dgm:pt>
    <dgm:pt modelId="{C3454C85-E66F-42AA-977C-9D6BAD1FB592}" type="parTrans" cxnId="{9295546C-9AA4-43EC-A286-1AB8A218FF6D}">
      <dgm:prSet/>
      <dgm:spPr/>
      <dgm:t>
        <a:bodyPr/>
        <a:lstStyle/>
        <a:p>
          <a:endParaRPr lang="en-US"/>
        </a:p>
      </dgm:t>
    </dgm:pt>
    <dgm:pt modelId="{0AF78B46-E833-49D3-A4BE-865CE2A4BF2D}" type="sibTrans" cxnId="{9295546C-9AA4-43EC-A286-1AB8A218FF6D}">
      <dgm:prSet/>
      <dgm:spPr/>
      <dgm:t>
        <a:bodyPr/>
        <a:lstStyle/>
        <a:p>
          <a:endParaRPr lang="en-US"/>
        </a:p>
      </dgm:t>
    </dgm:pt>
    <dgm:pt modelId="{D92BA2C9-8323-46D3-AE96-4DBB1DFF37A0}">
      <dgm:prSet/>
      <dgm:spPr/>
      <dgm:t>
        <a:bodyPr/>
        <a:lstStyle/>
        <a:p>
          <a:r>
            <a:rPr lang="en-US"/>
            <a:t>Reduces model bias caused by missing values.</a:t>
          </a:r>
        </a:p>
      </dgm:t>
    </dgm:pt>
    <dgm:pt modelId="{85C1C872-817D-4254-A593-6491D78DECC3}" type="parTrans" cxnId="{0674C08A-6916-4AB3-9FFD-BBC2B2044446}">
      <dgm:prSet/>
      <dgm:spPr/>
      <dgm:t>
        <a:bodyPr/>
        <a:lstStyle/>
        <a:p>
          <a:endParaRPr lang="en-US"/>
        </a:p>
      </dgm:t>
    </dgm:pt>
    <dgm:pt modelId="{9FFF2F25-0829-489F-A0E2-9E4EEFEA9DFD}" type="sibTrans" cxnId="{0674C08A-6916-4AB3-9FFD-BBC2B2044446}">
      <dgm:prSet/>
      <dgm:spPr/>
      <dgm:t>
        <a:bodyPr/>
        <a:lstStyle/>
        <a:p>
          <a:endParaRPr lang="en-US"/>
        </a:p>
      </dgm:t>
    </dgm:pt>
    <dgm:pt modelId="{5CEB5735-AF24-45DB-811F-84CE0236F75C}">
      <dgm:prSet/>
      <dgm:spPr/>
      <dgm:t>
        <a:bodyPr/>
        <a:lstStyle/>
        <a:p>
          <a:r>
            <a:rPr lang="en-US"/>
            <a:t>Improves model stability and predictive reliability.</a:t>
          </a:r>
        </a:p>
      </dgm:t>
    </dgm:pt>
    <dgm:pt modelId="{2BEB00EF-3DC0-4397-9C36-DE8A36D7F75E}" type="parTrans" cxnId="{7D63BDF2-0B75-4678-8C50-A227734B3E34}">
      <dgm:prSet/>
      <dgm:spPr/>
      <dgm:t>
        <a:bodyPr/>
        <a:lstStyle/>
        <a:p>
          <a:endParaRPr lang="en-US"/>
        </a:p>
      </dgm:t>
    </dgm:pt>
    <dgm:pt modelId="{919079A5-EFA0-4F4E-80E1-97738AEFD069}" type="sibTrans" cxnId="{7D63BDF2-0B75-4678-8C50-A227734B3E34}">
      <dgm:prSet/>
      <dgm:spPr/>
      <dgm:t>
        <a:bodyPr/>
        <a:lstStyle/>
        <a:p>
          <a:endParaRPr lang="en-US"/>
        </a:p>
      </dgm:t>
    </dgm:pt>
    <dgm:pt modelId="{7D4CFB59-8283-47FF-92CA-480C8AD27FC6}">
      <dgm:prSet/>
      <dgm:spPr/>
      <dgm:t>
        <a:bodyPr/>
        <a:lstStyle/>
        <a:p>
          <a:r>
            <a:rPr lang="en-US"/>
            <a:t>Prevents data leakage during training and testing.</a:t>
          </a:r>
        </a:p>
      </dgm:t>
    </dgm:pt>
    <dgm:pt modelId="{262FC617-3229-4594-8077-33303FFE7217}" type="parTrans" cxnId="{17365F3B-BE23-42EB-AACF-3FD684B767B7}">
      <dgm:prSet/>
      <dgm:spPr/>
      <dgm:t>
        <a:bodyPr/>
        <a:lstStyle/>
        <a:p>
          <a:endParaRPr lang="en-US"/>
        </a:p>
      </dgm:t>
    </dgm:pt>
    <dgm:pt modelId="{E8815CEB-A9D9-498A-9371-411D17B48FC5}" type="sibTrans" cxnId="{17365F3B-BE23-42EB-AACF-3FD684B767B7}">
      <dgm:prSet/>
      <dgm:spPr/>
      <dgm:t>
        <a:bodyPr/>
        <a:lstStyle/>
        <a:p>
          <a:endParaRPr lang="en-US"/>
        </a:p>
      </dgm:t>
    </dgm:pt>
    <dgm:pt modelId="{22BF656C-A555-4729-8042-D8E5FE146C90}" type="pres">
      <dgm:prSet presAssocID="{7E1E269E-303A-478B-8661-E9D1CF1C33CF}" presName="Name0" presStyleCnt="0">
        <dgm:presLayoutVars>
          <dgm:chMax/>
          <dgm:chPref/>
          <dgm:dir/>
          <dgm:animLvl val="lvl"/>
        </dgm:presLayoutVars>
      </dgm:prSet>
      <dgm:spPr/>
    </dgm:pt>
    <dgm:pt modelId="{0DA68568-EAF3-4E67-9E99-F24E6E15CA93}" type="pres">
      <dgm:prSet presAssocID="{76594072-296E-49EC-ADF2-E66EAB0504A3}" presName="composite" presStyleCnt="0"/>
      <dgm:spPr/>
    </dgm:pt>
    <dgm:pt modelId="{96F139C7-3C9F-41E0-8DA1-1ED957181179}" type="pres">
      <dgm:prSet presAssocID="{76594072-296E-49EC-ADF2-E66EAB0504A3}" presName="Parent1" presStyleLbl="node1" presStyleIdx="0" presStyleCnt="8">
        <dgm:presLayoutVars>
          <dgm:chMax val="1"/>
          <dgm:chPref val="1"/>
          <dgm:bulletEnabled val="1"/>
        </dgm:presLayoutVars>
      </dgm:prSet>
      <dgm:spPr/>
    </dgm:pt>
    <dgm:pt modelId="{2DF02D78-F844-4699-B182-FFE1EDF5C171}" type="pres">
      <dgm:prSet presAssocID="{76594072-296E-49EC-ADF2-E66EAB0504A3}" presName="Childtext1" presStyleLbl="revTx" presStyleIdx="0" presStyleCnt="4">
        <dgm:presLayoutVars>
          <dgm:chMax val="0"/>
          <dgm:chPref val="0"/>
          <dgm:bulletEnabled val="1"/>
        </dgm:presLayoutVars>
      </dgm:prSet>
      <dgm:spPr/>
    </dgm:pt>
    <dgm:pt modelId="{205AA51F-E1D4-4491-B297-069005FFE86A}" type="pres">
      <dgm:prSet presAssocID="{76594072-296E-49EC-ADF2-E66EAB0504A3}" presName="BalanceSpacing" presStyleCnt="0"/>
      <dgm:spPr/>
    </dgm:pt>
    <dgm:pt modelId="{F8999BBC-38CC-4376-B479-CC666A77DD75}" type="pres">
      <dgm:prSet presAssocID="{76594072-296E-49EC-ADF2-E66EAB0504A3}" presName="BalanceSpacing1" presStyleCnt="0"/>
      <dgm:spPr/>
    </dgm:pt>
    <dgm:pt modelId="{AE6492C6-15BE-49FF-ADEE-445554F61F8D}" type="pres">
      <dgm:prSet presAssocID="{0AF78B46-E833-49D3-A4BE-865CE2A4BF2D}" presName="Accent1Text" presStyleLbl="node1" presStyleIdx="1" presStyleCnt="8"/>
      <dgm:spPr/>
    </dgm:pt>
    <dgm:pt modelId="{60275D71-83E4-417E-8B8F-67A641DA89E5}" type="pres">
      <dgm:prSet presAssocID="{0AF78B46-E833-49D3-A4BE-865CE2A4BF2D}" presName="spaceBetweenRectangles" presStyleCnt="0"/>
      <dgm:spPr/>
    </dgm:pt>
    <dgm:pt modelId="{58D6D150-F79D-42B1-AE51-DB2194BD8F91}" type="pres">
      <dgm:prSet presAssocID="{D92BA2C9-8323-46D3-AE96-4DBB1DFF37A0}" presName="composite" presStyleCnt="0"/>
      <dgm:spPr/>
    </dgm:pt>
    <dgm:pt modelId="{31EEC536-BF47-45F7-B50C-C64BA9ADBD1C}" type="pres">
      <dgm:prSet presAssocID="{D92BA2C9-8323-46D3-AE96-4DBB1DFF37A0}" presName="Parent1" presStyleLbl="node1" presStyleIdx="2" presStyleCnt="8">
        <dgm:presLayoutVars>
          <dgm:chMax val="1"/>
          <dgm:chPref val="1"/>
          <dgm:bulletEnabled val="1"/>
        </dgm:presLayoutVars>
      </dgm:prSet>
      <dgm:spPr/>
    </dgm:pt>
    <dgm:pt modelId="{784643EB-BA92-4444-8CD8-B845A8A8F767}" type="pres">
      <dgm:prSet presAssocID="{D92BA2C9-8323-46D3-AE96-4DBB1DFF37A0}" presName="Childtext1" presStyleLbl="revTx" presStyleIdx="1" presStyleCnt="4">
        <dgm:presLayoutVars>
          <dgm:chMax val="0"/>
          <dgm:chPref val="0"/>
          <dgm:bulletEnabled val="1"/>
        </dgm:presLayoutVars>
      </dgm:prSet>
      <dgm:spPr/>
    </dgm:pt>
    <dgm:pt modelId="{CC27296D-A17F-4FDB-95D7-5F4EBBE4E911}" type="pres">
      <dgm:prSet presAssocID="{D92BA2C9-8323-46D3-AE96-4DBB1DFF37A0}" presName="BalanceSpacing" presStyleCnt="0"/>
      <dgm:spPr/>
    </dgm:pt>
    <dgm:pt modelId="{7D234B8B-4B52-4320-88BA-A5E0D895D9C7}" type="pres">
      <dgm:prSet presAssocID="{D92BA2C9-8323-46D3-AE96-4DBB1DFF37A0}" presName="BalanceSpacing1" presStyleCnt="0"/>
      <dgm:spPr/>
    </dgm:pt>
    <dgm:pt modelId="{7D221B08-458A-47A4-B85A-78F406F91F79}" type="pres">
      <dgm:prSet presAssocID="{9FFF2F25-0829-489F-A0E2-9E4EEFEA9DFD}" presName="Accent1Text" presStyleLbl="node1" presStyleIdx="3" presStyleCnt="8"/>
      <dgm:spPr/>
    </dgm:pt>
    <dgm:pt modelId="{8F73382C-0A8B-4368-8776-E3DC902105BD}" type="pres">
      <dgm:prSet presAssocID="{9FFF2F25-0829-489F-A0E2-9E4EEFEA9DFD}" presName="spaceBetweenRectangles" presStyleCnt="0"/>
      <dgm:spPr/>
    </dgm:pt>
    <dgm:pt modelId="{CBA023A2-9E7F-4D39-A853-8F04E0E52884}" type="pres">
      <dgm:prSet presAssocID="{5CEB5735-AF24-45DB-811F-84CE0236F75C}" presName="composite" presStyleCnt="0"/>
      <dgm:spPr/>
    </dgm:pt>
    <dgm:pt modelId="{63B00904-4E28-4387-82E4-D8BB9194392D}" type="pres">
      <dgm:prSet presAssocID="{5CEB5735-AF24-45DB-811F-84CE0236F75C}" presName="Parent1" presStyleLbl="node1" presStyleIdx="4" presStyleCnt="8">
        <dgm:presLayoutVars>
          <dgm:chMax val="1"/>
          <dgm:chPref val="1"/>
          <dgm:bulletEnabled val="1"/>
        </dgm:presLayoutVars>
      </dgm:prSet>
      <dgm:spPr/>
    </dgm:pt>
    <dgm:pt modelId="{DA1B354D-5EC1-4809-836C-514A7E2123E6}" type="pres">
      <dgm:prSet presAssocID="{5CEB5735-AF24-45DB-811F-84CE0236F75C}" presName="Childtext1" presStyleLbl="revTx" presStyleIdx="2" presStyleCnt="4">
        <dgm:presLayoutVars>
          <dgm:chMax val="0"/>
          <dgm:chPref val="0"/>
          <dgm:bulletEnabled val="1"/>
        </dgm:presLayoutVars>
      </dgm:prSet>
      <dgm:spPr/>
    </dgm:pt>
    <dgm:pt modelId="{BF3AD80A-9EFE-448B-B063-C463CAB090F3}" type="pres">
      <dgm:prSet presAssocID="{5CEB5735-AF24-45DB-811F-84CE0236F75C}" presName="BalanceSpacing" presStyleCnt="0"/>
      <dgm:spPr/>
    </dgm:pt>
    <dgm:pt modelId="{534EE815-5F80-4FAA-A30A-2E46F90388B8}" type="pres">
      <dgm:prSet presAssocID="{5CEB5735-AF24-45DB-811F-84CE0236F75C}" presName="BalanceSpacing1" presStyleCnt="0"/>
      <dgm:spPr/>
    </dgm:pt>
    <dgm:pt modelId="{FC6FC7CB-B8D0-44BB-A5B4-A40CE294B288}" type="pres">
      <dgm:prSet presAssocID="{919079A5-EFA0-4F4E-80E1-97738AEFD069}" presName="Accent1Text" presStyleLbl="node1" presStyleIdx="5" presStyleCnt="8"/>
      <dgm:spPr/>
    </dgm:pt>
    <dgm:pt modelId="{43040A5B-E1FE-4C15-9C1A-712339FFF5EB}" type="pres">
      <dgm:prSet presAssocID="{919079A5-EFA0-4F4E-80E1-97738AEFD069}" presName="spaceBetweenRectangles" presStyleCnt="0"/>
      <dgm:spPr/>
    </dgm:pt>
    <dgm:pt modelId="{706276A8-9EFC-4BCB-8E49-B3AEA6C729FE}" type="pres">
      <dgm:prSet presAssocID="{7D4CFB59-8283-47FF-92CA-480C8AD27FC6}" presName="composite" presStyleCnt="0"/>
      <dgm:spPr/>
    </dgm:pt>
    <dgm:pt modelId="{22381231-9F21-4792-8B6E-6B1121EEBD2D}" type="pres">
      <dgm:prSet presAssocID="{7D4CFB59-8283-47FF-92CA-480C8AD27FC6}" presName="Parent1" presStyleLbl="node1" presStyleIdx="6" presStyleCnt="8">
        <dgm:presLayoutVars>
          <dgm:chMax val="1"/>
          <dgm:chPref val="1"/>
          <dgm:bulletEnabled val="1"/>
        </dgm:presLayoutVars>
      </dgm:prSet>
      <dgm:spPr/>
    </dgm:pt>
    <dgm:pt modelId="{9C719519-ADF1-456A-B61A-65B3E06C4B7B}" type="pres">
      <dgm:prSet presAssocID="{7D4CFB59-8283-47FF-92CA-480C8AD27FC6}" presName="Childtext1" presStyleLbl="revTx" presStyleIdx="3" presStyleCnt="4">
        <dgm:presLayoutVars>
          <dgm:chMax val="0"/>
          <dgm:chPref val="0"/>
          <dgm:bulletEnabled val="1"/>
        </dgm:presLayoutVars>
      </dgm:prSet>
      <dgm:spPr/>
    </dgm:pt>
    <dgm:pt modelId="{A36BF487-C290-4EA3-B871-03FA5806340D}" type="pres">
      <dgm:prSet presAssocID="{7D4CFB59-8283-47FF-92CA-480C8AD27FC6}" presName="BalanceSpacing" presStyleCnt="0"/>
      <dgm:spPr/>
    </dgm:pt>
    <dgm:pt modelId="{9A0A7B78-3FC1-476C-A499-BCFAC3B0DBD2}" type="pres">
      <dgm:prSet presAssocID="{7D4CFB59-8283-47FF-92CA-480C8AD27FC6}" presName="BalanceSpacing1" presStyleCnt="0"/>
      <dgm:spPr/>
    </dgm:pt>
    <dgm:pt modelId="{B90CD618-2C4E-42F3-91D5-C5B1863508B6}" type="pres">
      <dgm:prSet presAssocID="{E8815CEB-A9D9-498A-9371-411D17B48FC5}" presName="Accent1Text" presStyleLbl="node1" presStyleIdx="7" presStyleCnt="8"/>
      <dgm:spPr/>
    </dgm:pt>
  </dgm:ptLst>
  <dgm:cxnLst>
    <dgm:cxn modelId="{0FDA8605-3A65-426E-8D5D-013D6B712711}" type="presOf" srcId="{5CEB5735-AF24-45DB-811F-84CE0236F75C}" destId="{63B00904-4E28-4387-82E4-D8BB9194392D}" srcOrd="0" destOrd="0" presId="urn:microsoft.com/office/officeart/2008/layout/AlternatingHexagons"/>
    <dgm:cxn modelId="{231BF41B-83CF-4FFC-BE9E-48754149E6DF}" type="presOf" srcId="{7E1E269E-303A-478B-8661-E9D1CF1C33CF}" destId="{22BF656C-A555-4729-8042-D8E5FE146C90}" srcOrd="0" destOrd="0" presId="urn:microsoft.com/office/officeart/2008/layout/AlternatingHexagons"/>
    <dgm:cxn modelId="{17365F3B-BE23-42EB-AACF-3FD684B767B7}" srcId="{7E1E269E-303A-478B-8661-E9D1CF1C33CF}" destId="{7D4CFB59-8283-47FF-92CA-480C8AD27FC6}" srcOrd="3" destOrd="0" parTransId="{262FC617-3229-4594-8077-33303FFE7217}" sibTransId="{E8815CEB-A9D9-498A-9371-411D17B48FC5}"/>
    <dgm:cxn modelId="{B85B404B-3E5B-40B1-A568-C356D6DDEF5C}" type="presOf" srcId="{7D4CFB59-8283-47FF-92CA-480C8AD27FC6}" destId="{22381231-9F21-4792-8B6E-6B1121EEBD2D}" srcOrd="0" destOrd="0" presId="urn:microsoft.com/office/officeart/2008/layout/AlternatingHexagons"/>
    <dgm:cxn modelId="{9295546C-9AA4-43EC-A286-1AB8A218FF6D}" srcId="{7E1E269E-303A-478B-8661-E9D1CF1C33CF}" destId="{76594072-296E-49EC-ADF2-E66EAB0504A3}" srcOrd="0" destOrd="0" parTransId="{C3454C85-E66F-42AA-977C-9D6BAD1FB592}" sibTransId="{0AF78B46-E833-49D3-A4BE-865CE2A4BF2D}"/>
    <dgm:cxn modelId="{A0188A4E-34C0-4F10-B613-E808ECF722BC}" type="presOf" srcId="{919079A5-EFA0-4F4E-80E1-97738AEFD069}" destId="{FC6FC7CB-B8D0-44BB-A5B4-A40CE294B288}" srcOrd="0" destOrd="0" presId="urn:microsoft.com/office/officeart/2008/layout/AlternatingHexagons"/>
    <dgm:cxn modelId="{18323250-F7D0-4172-95C5-CB7E3B1DFC74}" type="presOf" srcId="{0AF78B46-E833-49D3-A4BE-865CE2A4BF2D}" destId="{AE6492C6-15BE-49FF-ADEE-445554F61F8D}" srcOrd="0" destOrd="0" presId="urn:microsoft.com/office/officeart/2008/layout/AlternatingHexagons"/>
    <dgm:cxn modelId="{98D76B78-123B-4168-A18A-0DB88DC5D8A1}" type="presOf" srcId="{9FFF2F25-0829-489F-A0E2-9E4EEFEA9DFD}" destId="{7D221B08-458A-47A4-B85A-78F406F91F79}" srcOrd="0" destOrd="0" presId="urn:microsoft.com/office/officeart/2008/layout/AlternatingHexagons"/>
    <dgm:cxn modelId="{0674C08A-6916-4AB3-9FFD-BBC2B2044446}" srcId="{7E1E269E-303A-478B-8661-E9D1CF1C33CF}" destId="{D92BA2C9-8323-46D3-AE96-4DBB1DFF37A0}" srcOrd="1" destOrd="0" parTransId="{85C1C872-817D-4254-A593-6491D78DECC3}" sibTransId="{9FFF2F25-0829-489F-A0E2-9E4EEFEA9DFD}"/>
    <dgm:cxn modelId="{C9D4DC91-20A5-445E-A8FD-68D944B3FE0D}" type="presOf" srcId="{D92BA2C9-8323-46D3-AE96-4DBB1DFF37A0}" destId="{31EEC536-BF47-45F7-B50C-C64BA9ADBD1C}" srcOrd="0" destOrd="0" presId="urn:microsoft.com/office/officeart/2008/layout/AlternatingHexagons"/>
    <dgm:cxn modelId="{E2B987A0-C06B-4BE5-A549-440C73095148}" type="presOf" srcId="{76594072-296E-49EC-ADF2-E66EAB0504A3}" destId="{96F139C7-3C9F-41E0-8DA1-1ED957181179}" srcOrd="0" destOrd="0" presId="urn:microsoft.com/office/officeart/2008/layout/AlternatingHexagons"/>
    <dgm:cxn modelId="{AEC13FCC-EE55-408A-B187-13971E4CDBA5}" type="presOf" srcId="{E8815CEB-A9D9-498A-9371-411D17B48FC5}" destId="{B90CD618-2C4E-42F3-91D5-C5B1863508B6}" srcOrd="0" destOrd="0" presId="urn:microsoft.com/office/officeart/2008/layout/AlternatingHexagons"/>
    <dgm:cxn modelId="{7D63BDF2-0B75-4678-8C50-A227734B3E34}" srcId="{7E1E269E-303A-478B-8661-E9D1CF1C33CF}" destId="{5CEB5735-AF24-45DB-811F-84CE0236F75C}" srcOrd="2" destOrd="0" parTransId="{2BEB00EF-3DC0-4397-9C36-DE8A36D7F75E}" sibTransId="{919079A5-EFA0-4F4E-80E1-97738AEFD069}"/>
    <dgm:cxn modelId="{BF66D0C5-7DCC-43B7-B09B-3B7C4333DBC3}" type="presParOf" srcId="{22BF656C-A555-4729-8042-D8E5FE146C90}" destId="{0DA68568-EAF3-4E67-9E99-F24E6E15CA93}" srcOrd="0" destOrd="0" presId="urn:microsoft.com/office/officeart/2008/layout/AlternatingHexagons"/>
    <dgm:cxn modelId="{A397E3A1-EF4C-4C8B-9B2B-19F0DEEB95D8}" type="presParOf" srcId="{0DA68568-EAF3-4E67-9E99-F24E6E15CA93}" destId="{96F139C7-3C9F-41E0-8DA1-1ED957181179}" srcOrd="0" destOrd="0" presId="urn:microsoft.com/office/officeart/2008/layout/AlternatingHexagons"/>
    <dgm:cxn modelId="{5C078C54-0D16-400C-A41B-2F31B5A3A587}" type="presParOf" srcId="{0DA68568-EAF3-4E67-9E99-F24E6E15CA93}" destId="{2DF02D78-F844-4699-B182-FFE1EDF5C171}" srcOrd="1" destOrd="0" presId="urn:microsoft.com/office/officeart/2008/layout/AlternatingHexagons"/>
    <dgm:cxn modelId="{81C099BF-8FD0-4127-8FED-887356D34A78}" type="presParOf" srcId="{0DA68568-EAF3-4E67-9E99-F24E6E15CA93}" destId="{205AA51F-E1D4-4491-B297-069005FFE86A}" srcOrd="2" destOrd="0" presId="urn:microsoft.com/office/officeart/2008/layout/AlternatingHexagons"/>
    <dgm:cxn modelId="{A67DCC1C-3852-4D82-910B-C439FD23DEBE}" type="presParOf" srcId="{0DA68568-EAF3-4E67-9E99-F24E6E15CA93}" destId="{F8999BBC-38CC-4376-B479-CC666A77DD75}" srcOrd="3" destOrd="0" presId="urn:microsoft.com/office/officeart/2008/layout/AlternatingHexagons"/>
    <dgm:cxn modelId="{36CBB97F-0D1C-4C9B-86F7-1FA62237836E}" type="presParOf" srcId="{0DA68568-EAF3-4E67-9E99-F24E6E15CA93}" destId="{AE6492C6-15BE-49FF-ADEE-445554F61F8D}" srcOrd="4" destOrd="0" presId="urn:microsoft.com/office/officeart/2008/layout/AlternatingHexagons"/>
    <dgm:cxn modelId="{F3A2102E-79AC-4CBE-A5AE-906C2E4B54DE}" type="presParOf" srcId="{22BF656C-A555-4729-8042-D8E5FE146C90}" destId="{60275D71-83E4-417E-8B8F-67A641DA89E5}" srcOrd="1" destOrd="0" presId="urn:microsoft.com/office/officeart/2008/layout/AlternatingHexagons"/>
    <dgm:cxn modelId="{4DF0DA35-0EAC-4600-8379-19AD820675A9}" type="presParOf" srcId="{22BF656C-A555-4729-8042-D8E5FE146C90}" destId="{58D6D150-F79D-42B1-AE51-DB2194BD8F91}" srcOrd="2" destOrd="0" presId="urn:microsoft.com/office/officeart/2008/layout/AlternatingHexagons"/>
    <dgm:cxn modelId="{66185D50-A287-44B7-935F-67EAEAE2F0D1}" type="presParOf" srcId="{58D6D150-F79D-42B1-AE51-DB2194BD8F91}" destId="{31EEC536-BF47-45F7-B50C-C64BA9ADBD1C}" srcOrd="0" destOrd="0" presId="urn:microsoft.com/office/officeart/2008/layout/AlternatingHexagons"/>
    <dgm:cxn modelId="{05F61CF3-7B75-45F3-A416-FD56517AAB90}" type="presParOf" srcId="{58D6D150-F79D-42B1-AE51-DB2194BD8F91}" destId="{784643EB-BA92-4444-8CD8-B845A8A8F767}" srcOrd="1" destOrd="0" presId="urn:microsoft.com/office/officeart/2008/layout/AlternatingHexagons"/>
    <dgm:cxn modelId="{6C7295FE-1004-40FF-957C-41112BAEDEBA}" type="presParOf" srcId="{58D6D150-F79D-42B1-AE51-DB2194BD8F91}" destId="{CC27296D-A17F-4FDB-95D7-5F4EBBE4E911}" srcOrd="2" destOrd="0" presId="urn:microsoft.com/office/officeart/2008/layout/AlternatingHexagons"/>
    <dgm:cxn modelId="{BBA39F43-EA07-4029-9061-B8CC402CC70B}" type="presParOf" srcId="{58D6D150-F79D-42B1-AE51-DB2194BD8F91}" destId="{7D234B8B-4B52-4320-88BA-A5E0D895D9C7}" srcOrd="3" destOrd="0" presId="urn:microsoft.com/office/officeart/2008/layout/AlternatingHexagons"/>
    <dgm:cxn modelId="{1DE267E6-3AF8-4A02-B3D4-D94D64881D76}" type="presParOf" srcId="{58D6D150-F79D-42B1-AE51-DB2194BD8F91}" destId="{7D221B08-458A-47A4-B85A-78F406F91F79}" srcOrd="4" destOrd="0" presId="urn:microsoft.com/office/officeart/2008/layout/AlternatingHexagons"/>
    <dgm:cxn modelId="{C31FD4DF-BA75-4A90-A679-918D8A67F419}" type="presParOf" srcId="{22BF656C-A555-4729-8042-D8E5FE146C90}" destId="{8F73382C-0A8B-4368-8776-E3DC902105BD}" srcOrd="3" destOrd="0" presId="urn:microsoft.com/office/officeart/2008/layout/AlternatingHexagons"/>
    <dgm:cxn modelId="{5E53F763-2F6F-4FBB-A742-A62BFF3FC6B4}" type="presParOf" srcId="{22BF656C-A555-4729-8042-D8E5FE146C90}" destId="{CBA023A2-9E7F-4D39-A853-8F04E0E52884}" srcOrd="4" destOrd="0" presId="urn:microsoft.com/office/officeart/2008/layout/AlternatingHexagons"/>
    <dgm:cxn modelId="{69820E3E-082B-47B5-A874-9B95BB3FD24E}" type="presParOf" srcId="{CBA023A2-9E7F-4D39-A853-8F04E0E52884}" destId="{63B00904-4E28-4387-82E4-D8BB9194392D}" srcOrd="0" destOrd="0" presId="urn:microsoft.com/office/officeart/2008/layout/AlternatingHexagons"/>
    <dgm:cxn modelId="{3390B5E0-CE41-4D76-AA76-6BD5525F01E5}" type="presParOf" srcId="{CBA023A2-9E7F-4D39-A853-8F04E0E52884}" destId="{DA1B354D-5EC1-4809-836C-514A7E2123E6}" srcOrd="1" destOrd="0" presId="urn:microsoft.com/office/officeart/2008/layout/AlternatingHexagons"/>
    <dgm:cxn modelId="{8BF1ADD4-F1F6-41E3-8E5C-C4553D13A926}" type="presParOf" srcId="{CBA023A2-9E7F-4D39-A853-8F04E0E52884}" destId="{BF3AD80A-9EFE-448B-B063-C463CAB090F3}" srcOrd="2" destOrd="0" presId="urn:microsoft.com/office/officeart/2008/layout/AlternatingHexagons"/>
    <dgm:cxn modelId="{F3FC18B2-CDCC-4339-9922-EEE35EAF3B35}" type="presParOf" srcId="{CBA023A2-9E7F-4D39-A853-8F04E0E52884}" destId="{534EE815-5F80-4FAA-A30A-2E46F90388B8}" srcOrd="3" destOrd="0" presId="urn:microsoft.com/office/officeart/2008/layout/AlternatingHexagons"/>
    <dgm:cxn modelId="{FC0640F8-71C2-49BC-8CBF-7C2445F0C7C5}" type="presParOf" srcId="{CBA023A2-9E7F-4D39-A853-8F04E0E52884}" destId="{FC6FC7CB-B8D0-44BB-A5B4-A40CE294B288}" srcOrd="4" destOrd="0" presId="urn:microsoft.com/office/officeart/2008/layout/AlternatingHexagons"/>
    <dgm:cxn modelId="{81983E02-A85F-4806-A2F3-B606E3100753}" type="presParOf" srcId="{22BF656C-A555-4729-8042-D8E5FE146C90}" destId="{43040A5B-E1FE-4C15-9C1A-712339FFF5EB}" srcOrd="5" destOrd="0" presId="urn:microsoft.com/office/officeart/2008/layout/AlternatingHexagons"/>
    <dgm:cxn modelId="{C8113941-3BE5-4E3C-882F-9015C20B8100}" type="presParOf" srcId="{22BF656C-A555-4729-8042-D8E5FE146C90}" destId="{706276A8-9EFC-4BCB-8E49-B3AEA6C729FE}" srcOrd="6" destOrd="0" presId="urn:microsoft.com/office/officeart/2008/layout/AlternatingHexagons"/>
    <dgm:cxn modelId="{D9D0B741-61F5-4BD0-8B44-EB9462009C8A}" type="presParOf" srcId="{706276A8-9EFC-4BCB-8E49-B3AEA6C729FE}" destId="{22381231-9F21-4792-8B6E-6B1121EEBD2D}" srcOrd="0" destOrd="0" presId="urn:microsoft.com/office/officeart/2008/layout/AlternatingHexagons"/>
    <dgm:cxn modelId="{19739F4B-D0A4-475A-95EB-28A1BE7306A4}" type="presParOf" srcId="{706276A8-9EFC-4BCB-8E49-B3AEA6C729FE}" destId="{9C719519-ADF1-456A-B61A-65B3E06C4B7B}" srcOrd="1" destOrd="0" presId="urn:microsoft.com/office/officeart/2008/layout/AlternatingHexagons"/>
    <dgm:cxn modelId="{D1131E6C-3406-4C1B-AB95-1656DF79A7D8}" type="presParOf" srcId="{706276A8-9EFC-4BCB-8E49-B3AEA6C729FE}" destId="{A36BF487-C290-4EA3-B871-03FA5806340D}" srcOrd="2" destOrd="0" presId="urn:microsoft.com/office/officeart/2008/layout/AlternatingHexagons"/>
    <dgm:cxn modelId="{F7404396-9F09-4DF9-B50F-F4D00DF156E7}" type="presParOf" srcId="{706276A8-9EFC-4BCB-8E49-B3AEA6C729FE}" destId="{9A0A7B78-3FC1-476C-A499-BCFAC3B0DBD2}" srcOrd="3" destOrd="0" presId="urn:microsoft.com/office/officeart/2008/layout/AlternatingHexagons"/>
    <dgm:cxn modelId="{F4824268-6214-4E5E-9CEC-C4A16A4773EC}" type="presParOf" srcId="{706276A8-9EFC-4BCB-8E49-B3AEA6C729FE}" destId="{B90CD618-2C4E-42F3-91D5-C5B1863508B6}" srcOrd="4" destOrd="0" presId="urn:microsoft.com/office/officeart/2008/layout/AlternatingHexagon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156A334-70A0-4FD3-BDA5-99477ECC05CA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C0A2EC8-A314-4FBB-B61C-FB4C1C34EFE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Builds trees sequentially to correct previous errors.</a:t>
          </a:r>
        </a:p>
      </dgm:t>
    </dgm:pt>
    <dgm:pt modelId="{A13C080C-5708-457C-8FF9-16C20DDCDA70}" type="parTrans" cxnId="{13D593BC-28F2-4C74-9685-EC696A2B87AD}">
      <dgm:prSet/>
      <dgm:spPr/>
      <dgm:t>
        <a:bodyPr/>
        <a:lstStyle/>
        <a:p>
          <a:endParaRPr lang="en-US"/>
        </a:p>
      </dgm:t>
    </dgm:pt>
    <dgm:pt modelId="{AA7C2208-282E-4F57-8288-4A4D9ACE450A}" type="sibTrans" cxnId="{13D593BC-28F2-4C74-9685-EC696A2B87AD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89173052-70A2-45E7-B56E-D8083336363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Handles mixed feature interactions effectively.</a:t>
          </a:r>
        </a:p>
      </dgm:t>
    </dgm:pt>
    <dgm:pt modelId="{CB8CDC53-A8E7-4B05-808B-342C8DB6866D}" type="parTrans" cxnId="{07C925B0-4FA0-4240-8D50-37445A788D7E}">
      <dgm:prSet/>
      <dgm:spPr/>
      <dgm:t>
        <a:bodyPr/>
        <a:lstStyle/>
        <a:p>
          <a:endParaRPr lang="en-US"/>
        </a:p>
      </dgm:t>
    </dgm:pt>
    <dgm:pt modelId="{0802EA69-AFDD-4E8B-9A50-80C827F9B602}" type="sibTrans" cxnId="{07C925B0-4FA0-4240-8D50-37445A788D7E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851B2C03-1A6A-4B7B-9966-70C202E625B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Reduces bias while maintaining strong predictive power.</a:t>
          </a:r>
        </a:p>
      </dgm:t>
    </dgm:pt>
    <dgm:pt modelId="{64E51051-4CDD-4EE8-A558-574E7F4D5E88}" type="parTrans" cxnId="{812C26A3-46DF-4F93-B5C9-6BDE3B88CE7D}">
      <dgm:prSet/>
      <dgm:spPr/>
      <dgm:t>
        <a:bodyPr/>
        <a:lstStyle/>
        <a:p>
          <a:endParaRPr lang="en-US"/>
        </a:p>
      </dgm:t>
    </dgm:pt>
    <dgm:pt modelId="{93637C69-2BEA-4DF6-B60B-5BD8FCA9E5A7}" type="sibTrans" cxnId="{812C26A3-46DF-4F93-B5C9-6BDE3B88CE7D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8B8898F-1E2D-4953-9433-8ECF47006DC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Works well with structured socioeconomic survey data.</a:t>
          </a:r>
        </a:p>
      </dgm:t>
    </dgm:pt>
    <dgm:pt modelId="{4895ADC9-262E-4239-8291-69504C56A14E}" type="parTrans" cxnId="{F09B4DD0-0D79-4040-9585-81B66E44EDDB}">
      <dgm:prSet/>
      <dgm:spPr/>
      <dgm:t>
        <a:bodyPr/>
        <a:lstStyle/>
        <a:p>
          <a:endParaRPr lang="en-US"/>
        </a:p>
      </dgm:t>
    </dgm:pt>
    <dgm:pt modelId="{BCF19A1C-F122-4DCF-9E3B-4E1F09323274}" type="sibTrans" cxnId="{F09B4DD0-0D79-4040-9585-81B66E44EDDB}">
      <dgm:prSet/>
      <dgm:spPr/>
      <dgm:t>
        <a:bodyPr/>
        <a:lstStyle/>
        <a:p>
          <a:endParaRPr lang="en-US"/>
        </a:p>
      </dgm:t>
    </dgm:pt>
    <dgm:pt modelId="{117DA46E-FB2F-4FE1-BE32-9F00444A5D73}" type="pres">
      <dgm:prSet presAssocID="{A156A334-70A0-4FD3-BDA5-99477ECC05CA}" presName="root" presStyleCnt="0">
        <dgm:presLayoutVars>
          <dgm:dir/>
          <dgm:resizeHandles val="exact"/>
        </dgm:presLayoutVars>
      </dgm:prSet>
      <dgm:spPr/>
    </dgm:pt>
    <dgm:pt modelId="{9CD209D0-AA49-443A-BE9D-80E003224448}" type="pres">
      <dgm:prSet presAssocID="{A156A334-70A0-4FD3-BDA5-99477ECC05CA}" presName="container" presStyleCnt="0">
        <dgm:presLayoutVars>
          <dgm:dir/>
          <dgm:resizeHandles val="exact"/>
        </dgm:presLayoutVars>
      </dgm:prSet>
      <dgm:spPr/>
    </dgm:pt>
    <dgm:pt modelId="{7A83C97E-D924-49E1-9011-DF18B3925775}" type="pres">
      <dgm:prSet presAssocID="{5C0A2EC8-A314-4FBB-B61C-FB4C1C34EFEA}" presName="compNode" presStyleCnt="0"/>
      <dgm:spPr/>
    </dgm:pt>
    <dgm:pt modelId="{705547DC-7BCB-4674-957B-43915A368EE3}" type="pres">
      <dgm:prSet presAssocID="{5C0A2EC8-A314-4FBB-B61C-FB4C1C34EFEA}" presName="iconBgRect" presStyleLbl="bgShp" presStyleIdx="0" presStyleCnt="4"/>
      <dgm:spPr/>
    </dgm:pt>
    <dgm:pt modelId="{9F38E313-FC4F-4F7B-84B9-E592D34A38B6}" type="pres">
      <dgm:prSet presAssocID="{5C0A2EC8-A314-4FBB-B61C-FB4C1C34EFEA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epeat"/>
        </a:ext>
      </dgm:extLst>
    </dgm:pt>
    <dgm:pt modelId="{165E5368-547B-44CD-8FA7-3D14DF72D27D}" type="pres">
      <dgm:prSet presAssocID="{5C0A2EC8-A314-4FBB-B61C-FB4C1C34EFEA}" presName="spaceRect" presStyleCnt="0"/>
      <dgm:spPr/>
    </dgm:pt>
    <dgm:pt modelId="{A014D781-0BBD-46C7-AAC8-4E6E02D954C0}" type="pres">
      <dgm:prSet presAssocID="{5C0A2EC8-A314-4FBB-B61C-FB4C1C34EFEA}" presName="textRect" presStyleLbl="revTx" presStyleIdx="0" presStyleCnt="4">
        <dgm:presLayoutVars>
          <dgm:chMax val="1"/>
          <dgm:chPref val="1"/>
        </dgm:presLayoutVars>
      </dgm:prSet>
      <dgm:spPr/>
    </dgm:pt>
    <dgm:pt modelId="{48B6E0C7-8D7F-46E9-914A-340FD73FE59F}" type="pres">
      <dgm:prSet presAssocID="{AA7C2208-282E-4F57-8288-4A4D9ACE450A}" presName="sibTrans" presStyleLbl="sibTrans2D1" presStyleIdx="0" presStyleCnt="0"/>
      <dgm:spPr/>
    </dgm:pt>
    <dgm:pt modelId="{2C34B95C-2644-445C-9952-2E3C40B514A2}" type="pres">
      <dgm:prSet presAssocID="{89173052-70A2-45E7-B56E-D80833363630}" presName="compNode" presStyleCnt="0"/>
      <dgm:spPr/>
    </dgm:pt>
    <dgm:pt modelId="{ACCC02FE-966F-4092-8A7E-820C78DC09C3}" type="pres">
      <dgm:prSet presAssocID="{89173052-70A2-45E7-B56E-D80833363630}" presName="iconBgRect" presStyleLbl="bgShp" presStyleIdx="1" presStyleCnt="4"/>
      <dgm:spPr/>
    </dgm:pt>
    <dgm:pt modelId="{A36CA88C-CFC8-4DE7-AB15-2333EE16F928}" type="pres">
      <dgm:prSet presAssocID="{89173052-70A2-45E7-B56E-D80833363630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801E8FEF-EDB2-4429-A4A2-363F3D5C3A3D}" type="pres">
      <dgm:prSet presAssocID="{89173052-70A2-45E7-B56E-D80833363630}" presName="spaceRect" presStyleCnt="0"/>
      <dgm:spPr/>
    </dgm:pt>
    <dgm:pt modelId="{AFBABCDD-494C-4D90-B0ED-E80FCA5F6EA3}" type="pres">
      <dgm:prSet presAssocID="{89173052-70A2-45E7-B56E-D80833363630}" presName="textRect" presStyleLbl="revTx" presStyleIdx="1" presStyleCnt="4">
        <dgm:presLayoutVars>
          <dgm:chMax val="1"/>
          <dgm:chPref val="1"/>
        </dgm:presLayoutVars>
      </dgm:prSet>
      <dgm:spPr/>
    </dgm:pt>
    <dgm:pt modelId="{2D21ACA5-9971-4659-A252-BF588C970956}" type="pres">
      <dgm:prSet presAssocID="{0802EA69-AFDD-4E8B-9A50-80C827F9B602}" presName="sibTrans" presStyleLbl="sibTrans2D1" presStyleIdx="0" presStyleCnt="0"/>
      <dgm:spPr/>
    </dgm:pt>
    <dgm:pt modelId="{17DC5F37-FB37-4B56-9DF5-2F34AA15309A}" type="pres">
      <dgm:prSet presAssocID="{851B2C03-1A6A-4B7B-9966-70C202E625BC}" presName="compNode" presStyleCnt="0"/>
      <dgm:spPr/>
    </dgm:pt>
    <dgm:pt modelId="{C55E4CDE-A0C4-4C85-A60C-13CB816230DA}" type="pres">
      <dgm:prSet presAssocID="{851B2C03-1A6A-4B7B-9966-70C202E625BC}" presName="iconBgRect" presStyleLbl="bgShp" presStyleIdx="2" presStyleCnt="4"/>
      <dgm:spPr/>
    </dgm:pt>
    <dgm:pt modelId="{48E6B3A0-98D3-408E-830B-E139BA9B2DC4}" type="pres">
      <dgm:prSet presAssocID="{851B2C03-1A6A-4B7B-9966-70C202E625BC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cales of Justice"/>
        </a:ext>
      </dgm:extLst>
    </dgm:pt>
    <dgm:pt modelId="{5371BA6E-8DFF-4F67-A604-309B688AD562}" type="pres">
      <dgm:prSet presAssocID="{851B2C03-1A6A-4B7B-9966-70C202E625BC}" presName="spaceRect" presStyleCnt="0"/>
      <dgm:spPr/>
    </dgm:pt>
    <dgm:pt modelId="{E6776296-1F77-42BF-9862-642C4CC05A23}" type="pres">
      <dgm:prSet presAssocID="{851B2C03-1A6A-4B7B-9966-70C202E625BC}" presName="textRect" presStyleLbl="revTx" presStyleIdx="2" presStyleCnt="4">
        <dgm:presLayoutVars>
          <dgm:chMax val="1"/>
          <dgm:chPref val="1"/>
        </dgm:presLayoutVars>
      </dgm:prSet>
      <dgm:spPr/>
    </dgm:pt>
    <dgm:pt modelId="{CAB7772C-BAF4-4E5B-98FF-FBCE5AB0FB48}" type="pres">
      <dgm:prSet presAssocID="{93637C69-2BEA-4DF6-B60B-5BD8FCA9E5A7}" presName="sibTrans" presStyleLbl="sibTrans2D1" presStyleIdx="0" presStyleCnt="0"/>
      <dgm:spPr/>
    </dgm:pt>
    <dgm:pt modelId="{A47BECD8-E79A-4ECF-9E09-BB7EE4B2B4D8}" type="pres">
      <dgm:prSet presAssocID="{18B8898F-1E2D-4953-9433-8ECF47006DCA}" presName="compNode" presStyleCnt="0"/>
      <dgm:spPr/>
    </dgm:pt>
    <dgm:pt modelId="{8AC461A3-CBDB-4E76-989D-EF6054832426}" type="pres">
      <dgm:prSet presAssocID="{18B8898F-1E2D-4953-9433-8ECF47006DCA}" presName="iconBgRect" presStyleLbl="bgShp" presStyleIdx="3" presStyleCnt="4"/>
      <dgm:spPr/>
    </dgm:pt>
    <dgm:pt modelId="{1349D4D5-0AD5-4F9F-9602-BFEEBCBB510A}" type="pres">
      <dgm:prSet presAssocID="{18B8898F-1E2D-4953-9433-8ECF47006DCA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D375F97F-C85D-46D3-A8F0-E4D611D83317}" type="pres">
      <dgm:prSet presAssocID="{18B8898F-1E2D-4953-9433-8ECF47006DCA}" presName="spaceRect" presStyleCnt="0"/>
      <dgm:spPr/>
    </dgm:pt>
    <dgm:pt modelId="{C67EE4C9-9FDE-41B5-BAC2-D461FDC87F5A}" type="pres">
      <dgm:prSet presAssocID="{18B8898F-1E2D-4953-9433-8ECF47006DCA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0144B60B-DCCD-43E2-911A-BD85F178FFCA}" type="presOf" srcId="{851B2C03-1A6A-4B7B-9966-70C202E625BC}" destId="{E6776296-1F77-42BF-9862-642C4CC05A23}" srcOrd="0" destOrd="0" presId="urn:microsoft.com/office/officeart/2018/2/layout/IconCircleList"/>
    <dgm:cxn modelId="{B45B6D15-0108-4EBE-9F47-1122E45F11FC}" type="presOf" srcId="{93637C69-2BEA-4DF6-B60B-5BD8FCA9E5A7}" destId="{CAB7772C-BAF4-4E5B-98FF-FBCE5AB0FB48}" srcOrd="0" destOrd="0" presId="urn:microsoft.com/office/officeart/2018/2/layout/IconCircleList"/>
    <dgm:cxn modelId="{B5F45417-8F40-4205-B0E4-B258898AC612}" type="presOf" srcId="{5C0A2EC8-A314-4FBB-B61C-FB4C1C34EFEA}" destId="{A014D781-0BBD-46C7-AAC8-4E6E02D954C0}" srcOrd="0" destOrd="0" presId="urn:microsoft.com/office/officeart/2018/2/layout/IconCircleList"/>
    <dgm:cxn modelId="{76CF2450-3140-4768-9012-A19269E6913F}" type="presOf" srcId="{A156A334-70A0-4FD3-BDA5-99477ECC05CA}" destId="{117DA46E-FB2F-4FE1-BE32-9F00444A5D73}" srcOrd="0" destOrd="0" presId="urn:microsoft.com/office/officeart/2018/2/layout/IconCircleList"/>
    <dgm:cxn modelId="{07BEB789-0F04-43E4-8968-6B79D5BDFB27}" type="presOf" srcId="{18B8898F-1E2D-4953-9433-8ECF47006DCA}" destId="{C67EE4C9-9FDE-41B5-BAC2-D461FDC87F5A}" srcOrd="0" destOrd="0" presId="urn:microsoft.com/office/officeart/2018/2/layout/IconCircleList"/>
    <dgm:cxn modelId="{812C26A3-46DF-4F93-B5C9-6BDE3B88CE7D}" srcId="{A156A334-70A0-4FD3-BDA5-99477ECC05CA}" destId="{851B2C03-1A6A-4B7B-9966-70C202E625BC}" srcOrd="2" destOrd="0" parTransId="{64E51051-4CDD-4EE8-A558-574E7F4D5E88}" sibTransId="{93637C69-2BEA-4DF6-B60B-5BD8FCA9E5A7}"/>
    <dgm:cxn modelId="{07C925B0-4FA0-4240-8D50-37445A788D7E}" srcId="{A156A334-70A0-4FD3-BDA5-99477ECC05CA}" destId="{89173052-70A2-45E7-B56E-D80833363630}" srcOrd="1" destOrd="0" parTransId="{CB8CDC53-A8E7-4B05-808B-342C8DB6866D}" sibTransId="{0802EA69-AFDD-4E8B-9A50-80C827F9B602}"/>
    <dgm:cxn modelId="{13D593BC-28F2-4C74-9685-EC696A2B87AD}" srcId="{A156A334-70A0-4FD3-BDA5-99477ECC05CA}" destId="{5C0A2EC8-A314-4FBB-B61C-FB4C1C34EFEA}" srcOrd="0" destOrd="0" parTransId="{A13C080C-5708-457C-8FF9-16C20DDCDA70}" sibTransId="{AA7C2208-282E-4F57-8288-4A4D9ACE450A}"/>
    <dgm:cxn modelId="{F09B4DD0-0D79-4040-9585-81B66E44EDDB}" srcId="{A156A334-70A0-4FD3-BDA5-99477ECC05CA}" destId="{18B8898F-1E2D-4953-9433-8ECF47006DCA}" srcOrd="3" destOrd="0" parTransId="{4895ADC9-262E-4239-8291-69504C56A14E}" sibTransId="{BCF19A1C-F122-4DCF-9E3B-4E1F09323274}"/>
    <dgm:cxn modelId="{00D647EA-ABE6-4C1E-856E-6B7538FA0DB8}" type="presOf" srcId="{AA7C2208-282E-4F57-8288-4A4D9ACE450A}" destId="{48B6E0C7-8D7F-46E9-914A-340FD73FE59F}" srcOrd="0" destOrd="0" presId="urn:microsoft.com/office/officeart/2018/2/layout/IconCircleList"/>
    <dgm:cxn modelId="{E05FE0F6-DD90-449F-A36C-906F2F50BE83}" type="presOf" srcId="{0802EA69-AFDD-4E8B-9A50-80C827F9B602}" destId="{2D21ACA5-9971-4659-A252-BF588C970956}" srcOrd="0" destOrd="0" presId="urn:microsoft.com/office/officeart/2018/2/layout/IconCircleList"/>
    <dgm:cxn modelId="{1B3766F9-9111-4DE9-A469-9CC8C21AAE14}" type="presOf" srcId="{89173052-70A2-45E7-B56E-D80833363630}" destId="{AFBABCDD-494C-4D90-B0ED-E80FCA5F6EA3}" srcOrd="0" destOrd="0" presId="urn:microsoft.com/office/officeart/2018/2/layout/IconCircleList"/>
    <dgm:cxn modelId="{9D2333B8-BD08-4C14-8487-F339199463B0}" type="presParOf" srcId="{117DA46E-FB2F-4FE1-BE32-9F00444A5D73}" destId="{9CD209D0-AA49-443A-BE9D-80E003224448}" srcOrd="0" destOrd="0" presId="urn:microsoft.com/office/officeart/2018/2/layout/IconCircleList"/>
    <dgm:cxn modelId="{8280B2AC-0182-4AE2-B0FE-23D49E7C0971}" type="presParOf" srcId="{9CD209D0-AA49-443A-BE9D-80E003224448}" destId="{7A83C97E-D924-49E1-9011-DF18B3925775}" srcOrd="0" destOrd="0" presId="urn:microsoft.com/office/officeart/2018/2/layout/IconCircleList"/>
    <dgm:cxn modelId="{6BE304F4-7117-4D23-B71A-9FEABF098564}" type="presParOf" srcId="{7A83C97E-D924-49E1-9011-DF18B3925775}" destId="{705547DC-7BCB-4674-957B-43915A368EE3}" srcOrd="0" destOrd="0" presId="urn:microsoft.com/office/officeart/2018/2/layout/IconCircleList"/>
    <dgm:cxn modelId="{464D5C93-FA33-4D52-AE71-B227DEE133B3}" type="presParOf" srcId="{7A83C97E-D924-49E1-9011-DF18B3925775}" destId="{9F38E313-FC4F-4F7B-84B9-E592D34A38B6}" srcOrd="1" destOrd="0" presId="urn:microsoft.com/office/officeart/2018/2/layout/IconCircleList"/>
    <dgm:cxn modelId="{61D5DD51-2C30-4289-ABEB-29B68DDABBFA}" type="presParOf" srcId="{7A83C97E-D924-49E1-9011-DF18B3925775}" destId="{165E5368-547B-44CD-8FA7-3D14DF72D27D}" srcOrd="2" destOrd="0" presId="urn:microsoft.com/office/officeart/2018/2/layout/IconCircleList"/>
    <dgm:cxn modelId="{39E0D426-39A6-43BA-B209-5828347E343C}" type="presParOf" srcId="{7A83C97E-D924-49E1-9011-DF18B3925775}" destId="{A014D781-0BBD-46C7-AAC8-4E6E02D954C0}" srcOrd="3" destOrd="0" presId="urn:microsoft.com/office/officeart/2018/2/layout/IconCircleList"/>
    <dgm:cxn modelId="{7EE15E03-5DE4-4CAD-8708-311ECE3B2F69}" type="presParOf" srcId="{9CD209D0-AA49-443A-BE9D-80E003224448}" destId="{48B6E0C7-8D7F-46E9-914A-340FD73FE59F}" srcOrd="1" destOrd="0" presId="urn:microsoft.com/office/officeart/2018/2/layout/IconCircleList"/>
    <dgm:cxn modelId="{BC13274E-B6A5-4397-882B-9FF61247A264}" type="presParOf" srcId="{9CD209D0-AA49-443A-BE9D-80E003224448}" destId="{2C34B95C-2644-445C-9952-2E3C40B514A2}" srcOrd="2" destOrd="0" presId="urn:microsoft.com/office/officeart/2018/2/layout/IconCircleList"/>
    <dgm:cxn modelId="{43913B8B-1488-4226-B0CF-0B21846A735F}" type="presParOf" srcId="{2C34B95C-2644-445C-9952-2E3C40B514A2}" destId="{ACCC02FE-966F-4092-8A7E-820C78DC09C3}" srcOrd="0" destOrd="0" presId="urn:microsoft.com/office/officeart/2018/2/layout/IconCircleList"/>
    <dgm:cxn modelId="{8E025421-0A6C-4A0F-92FE-360707547697}" type="presParOf" srcId="{2C34B95C-2644-445C-9952-2E3C40B514A2}" destId="{A36CA88C-CFC8-4DE7-AB15-2333EE16F928}" srcOrd="1" destOrd="0" presId="urn:microsoft.com/office/officeart/2018/2/layout/IconCircleList"/>
    <dgm:cxn modelId="{DDFA9DD3-2D24-48F8-8211-CCAD25706972}" type="presParOf" srcId="{2C34B95C-2644-445C-9952-2E3C40B514A2}" destId="{801E8FEF-EDB2-4429-A4A2-363F3D5C3A3D}" srcOrd="2" destOrd="0" presId="urn:microsoft.com/office/officeart/2018/2/layout/IconCircleList"/>
    <dgm:cxn modelId="{062BCA76-622D-44B3-B248-A26191A2BF40}" type="presParOf" srcId="{2C34B95C-2644-445C-9952-2E3C40B514A2}" destId="{AFBABCDD-494C-4D90-B0ED-E80FCA5F6EA3}" srcOrd="3" destOrd="0" presId="urn:microsoft.com/office/officeart/2018/2/layout/IconCircleList"/>
    <dgm:cxn modelId="{4D6B807B-5A5F-4DCD-BE4F-415D1E4C6979}" type="presParOf" srcId="{9CD209D0-AA49-443A-BE9D-80E003224448}" destId="{2D21ACA5-9971-4659-A252-BF588C970956}" srcOrd="3" destOrd="0" presId="urn:microsoft.com/office/officeart/2018/2/layout/IconCircleList"/>
    <dgm:cxn modelId="{43C241A8-FE51-493E-BA77-3B0B8ED567DD}" type="presParOf" srcId="{9CD209D0-AA49-443A-BE9D-80E003224448}" destId="{17DC5F37-FB37-4B56-9DF5-2F34AA15309A}" srcOrd="4" destOrd="0" presId="urn:microsoft.com/office/officeart/2018/2/layout/IconCircleList"/>
    <dgm:cxn modelId="{58FF15CC-C5A0-4CFA-B828-6924A1344297}" type="presParOf" srcId="{17DC5F37-FB37-4B56-9DF5-2F34AA15309A}" destId="{C55E4CDE-A0C4-4C85-A60C-13CB816230DA}" srcOrd="0" destOrd="0" presId="urn:microsoft.com/office/officeart/2018/2/layout/IconCircleList"/>
    <dgm:cxn modelId="{0234F21A-82F6-4FAE-B73D-50700DE97ADE}" type="presParOf" srcId="{17DC5F37-FB37-4B56-9DF5-2F34AA15309A}" destId="{48E6B3A0-98D3-408E-830B-E139BA9B2DC4}" srcOrd="1" destOrd="0" presId="urn:microsoft.com/office/officeart/2018/2/layout/IconCircleList"/>
    <dgm:cxn modelId="{D224A661-4669-4B52-BA50-D17D5C5476C7}" type="presParOf" srcId="{17DC5F37-FB37-4B56-9DF5-2F34AA15309A}" destId="{5371BA6E-8DFF-4F67-A604-309B688AD562}" srcOrd="2" destOrd="0" presId="urn:microsoft.com/office/officeart/2018/2/layout/IconCircleList"/>
    <dgm:cxn modelId="{5CAAC4B9-9501-45BA-BAB6-43DE6E1CDAF2}" type="presParOf" srcId="{17DC5F37-FB37-4B56-9DF5-2F34AA15309A}" destId="{E6776296-1F77-42BF-9862-642C4CC05A23}" srcOrd="3" destOrd="0" presId="urn:microsoft.com/office/officeart/2018/2/layout/IconCircleList"/>
    <dgm:cxn modelId="{313ACCEC-0F4A-4A1A-8DAE-1B2EF69E58F6}" type="presParOf" srcId="{9CD209D0-AA49-443A-BE9D-80E003224448}" destId="{CAB7772C-BAF4-4E5B-98FF-FBCE5AB0FB48}" srcOrd="5" destOrd="0" presId="urn:microsoft.com/office/officeart/2018/2/layout/IconCircleList"/>
    <dgm:cxn modelId="{8EEA7267-0B06-412B-8408-DB73D2D8DE93}" type="presParOf" srcId="{9CD209D0-AA49-443A-BE9D-80E003224448}" destId="{A47BECD8-E79A-4ECF-9E09-BB7EE4B2B4D8}" srcOrd="6" destOrd="0" presId="urn:microsoft.com/office/officeart/2018/2/layout/IconCircleList"/>
    <dgm:cxn modelId="{85263FB2-B869-4727-A9DB-14DE1EF7A31B}" type="presParOf" srcId="{A47BECD8-E79A-4ECF-9E09-BB7EE4B2B4D8}" destId="{8AC461A3-CBDB-4E76-989D-EF6054832426}" srcOrd="0" destOrd="0" presId="urn:microsoft.com/office/officeart/2018/2/layout/IconCircleList"/>
    <dgm:cxn modelId="{66366BB3-5517-4B9E-9E44-5A59CE26018D}" type="presParOf" srcId="{A47BECD8-E79A-4ECF-9E09-BB7EE4B2B4D8}" destId="{1349D4D5-0AD5-4F9F-9602-BFEEBCBB510A}" srcOrd="1" destOrd="0" presId="urn:microsoft.com/office/officeart/2018/2/layout/IconCircleList"/>
    <dgm:cxn modelId="{CC803503-1652-4723-A94E-0ADD00B6C88D}" type="presParOf" srcId="{A47BECD8-E79A-4ECF-9E09-BB7EE4B2B4D8}" destId="{D375F97F-C85D-46D3-A8F0-E4D611D83317}" srcOrd="2" destOrd="0" presId="urn:microsoft.com/office/officeart/2018/2/layout/IconCircleList"/>
    <dgm:cxn modelId="{FC26B7BD-30A2-4F13-B7B6-82D08CFFB189}" type="presParOf" srcId="{A47BECD8-E79A-4ECF-9E09-BB7EE4B2B4D8}" destId="{C67EE4C9-9FDE-41B5-BAC2-D461FDC87F5A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9448E08-4250-43E3-9D5D-3B8B747D5F47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D6DA175-A24E-4166-9332-E9473563B029}">
      <dgm:prSet/>
      <dgm:spPr/>
      <dgm:t>
        <a:bodyPr/>
        <a:lstStyle/>
        <a:p>
          <a:r>
            <a:rPr lang="en-US"/>
            <a:t>Final Gradient Boosting model deployed using Flask</a:t>
          </a:r>
        </a:p>
      </dgm:t>
    </dgm:pt>
    <dgm:pt modelId="{CE6289FD-AB26-492E-9EC5-7F40E0AE1609}" type="parTrans" cxnId="{91121EC4-495F-4F67-A676-2046BAC8FC4C}">
      <dgm:prSet/>
      <dgm:spPr/>
      <dgm:t>
        <a:bodyPr/>
        <a:lstStyle/>
        <a:p>
          <a:endParaRPr lang="en-US"/>
        </a:p>
      </dgm:t>
    </dgm:pt>
    <dgm:pt modelId="{89BEDC27-0DAE-4B88-9EA5-645798499A39}" type="sibTrans" cxnId="{91121EC4-495F-4F67-A676-2046BAC8FC4C}">
      <dgm:prSet/>
      <dgm:spPr/>
      <dgm:t>
        <a:bodyPr/>
        <a:lstStyle/>
        <a:p>
          <a:endParaRPr lang="en-US"/>
        </a:p>
      </dgm:t>
    </dgm:pt>
    <dgm:pt modelId="{13BB8850-F267-4E2E-84DA-8F39CC0134ED}">
      <dgm:prSet/>
      <dgm:spPr/>
      <dgm:t>
        <a:bodyPr/>
        <a:lstStyle/>
        <a:p>
          <a:r>
            <a:rPr lang="en-US"/>
            <a:t>Saved model, preprocessing pipeline and metadata for reproducibility</a:t>
          </a:r>
        </a:p>
      </dgm:t>
    </dgm:pt>
    <dgm:pt modelId="{57735D6C-B275-4221-8025-09FB8014F424}" type="parTrans" cxnId="{2E07ACEC-7D34-489D-B2FF-3DAF06F47DD5}">
      <dgm:prSet/>
      <dgm:spPr/>
      <dgm:t>
        <a:bodyPr/>
        <a:lstStyle/>
        <a:p>
          <a:endParaRPr lang="en-US"/>
        </a:p>
      </dgm:t>
    </dgm:pt>
    <dgm:pt modelId="{1EF52A46-7A5D-4CEE-8A3A-BD0D81ED5C9F}" type="sibTrans" cxnId="{2E07ACEC-7D34-489D-B2FF-3DAF06F47DD5}">
      <dgm:prSet/>
      <dgm:spPr/>
      <dgm:t>
        <a:bodyPr/>
        <a:lstStyle/>
        <a:p>
          <a:endParaRPr lang="en-US"/>
        </a:p>
      </dgm:t>
    </dgm:pt>
    <dgm:pt modelId="{783F3DC5-6E2B-4B80-8E61-452E60011500}">
      <dgm:prSet/>
      <dgm:spPr/>
      <dgm:t>
        <a:bodyPr/>
        <a:lstStyle/>
        <a:p>
          <a:r>
            <a:rPr lang="en-US"/>
            <a:t>Enables non-technical users to generate predictions</a:t>
          </a:r>
        </a:p>
      </dgm:t>
    </dgm:pt>
    <dgm:pt modelId="{D3687E02-3F78-4225-BCCD-525C69814C46}" type="parTrans" cxnId="{C3BCA6AF-6B60-4064-B915-525C6247249D}">
      <dgm:prSet/>
      <dgm:spPr/>
      <dgm:t>
        <a:bodyPr/>
        <a:lstStyle/>
        <a:p>
          <a:endParaRPr lang="en-US"/>
        </a:p>
      </dgm:t>
    </dgm:pt>
    <dgm:pt modelId="{12BF1A89-CBC0-496F-B4B1-52AE6606CFB0}" type="sibTrans" cxnId="{C3BCA6AF-6B60-4064-B915-525C6247249D}">
      <dgm:prSet/>
      <dgm:spPr/>
      <dgm:t>
        <a:bodyPr/>
        <a:lstStyle/>
        <a:p>
          <a:endParaRPr lang="en-US"/>
        </a:p>
      </dgm:t>
    </dgm:pt>
    <dgm:pt modelId="{32AC8F93-612C-4DB4-BEB3-66A5EEE5D581}">
      <dgm:prSet/>
      <dgm:spPr/>
      <dgm:t>
        <a:bodyPr/>
        <a:lstStyle/>
        <a:p>
          <a:r>
            <a:rPr lang="en-US"/>
            <a:t>Demonstrates an end-to-end machine learning workflow</a:t>
          </a:r>
        </a:p>
      </dgm:t>
    </dgm:pt>
    <dgm:pt modelId="{C85E167A-F5BC-42A6-8B3F-AB5E306B7410}" type="parTrans" cxnId="{A3847808-31C2-47C8-8D18-7DEED3998636}">
      <dgm:prSet/>
      <dgm:spPr/>
      <dgm:t>
        <a:bodyPr/>
        <a:lstStyle/>
        <a:p>
          <a:endParaRPr lang="en-US"/>
        </a:p>
      </dgm:t>
    </dgm:pt>
    <dgm:pt modelId="{FCE1362D-85F7-46C3-A84A-64241AE04119}" type="sibTrans" cxnId="{A3847808-31C2-47C8-8D18-7DEED3998636}">
      <dgm:prSet/>
      <dgm:spPr/>
      <dgm:t>
        <a:bodyPr/>
        <a:lstStyle/>
        <a:p>
          <a:endParaRPr lang="en-US"/>
        </a:p>
      </dgm:t>
    </dgm:pt>
    <dgm:pt modelId="{80EE41F6-1A36-4FE3-8987-68865114CEBA}">
      <dgm:prSet/>
      <dgm:spPr/>
      <dgm:t>
        <a:bodyPr/>
        <a:lstStyle/>
        <a:p>
          <a:r>
            <a:rPr lang="en-US"/>
            <a:t>Goal: Convert a trained model into a practical decision-support application.</a:t>
          </a:r>
        </a:p>
      </dgm:t>
    </dgm:pt>
    <dgm:pt modelId="{0ABEF4C1-7579-4808-B296-D2CD1EE0EBDF}" type="parTrans" cxnId="{1BD8BCCE-ADCE-4FA2-BDCE-96397B1D5885}">
      <dgm:prSet/>
      <dgm:spPr/>
      <dgm:t>
        <a:bodyPr/>
        <a:lstStyle/>
        <a:p>
          <a:endParaRPr lang="en-US"/>
        </a:p>
      </dgm:t>
    </dgm:pt>
    <dgm:pt modelId="{8EC3CC21-324A-4879-9FEA-61ACF34512B2}" type="sibTrans" cxnId="{1BD8BCCE-ADCE-4FA2-BDCE-96397B1D5885}">
      <dgm:prSet/>
      <dgm:spPr/>
      <dgm:t>
        <a:bodyPr/>
        <a:lstStyle/>
        <a:p>
          <a:endParaRPr lang="en-US"/>
        </a:p>
      </dgm:t>
    </dgm:pt>
    <dgm:pt modelId="{59412777-E533-4958-933C-002FB6C6607A}" type="pres">
      <dgm:prSet presAssocID="{29448E08-4250-43E3-9D5D-3B8B747D5F47}" presName="vert0" presStyleCnt="0">
        <dgm:presLayoutVars>
          <dgm:dir/>
          <dgm:animOne val="branch"/>
          <dgm:animLvl val="lvl"/>
        </dgm:presLayoutVars>
      </dgm:prSet>
      <dgm:spPr/>
    </dgm:pt>
    <dgm:pt modelId="{730A685A-E276-4AF8-B968-A3359A61326E}" type="pres">
      <dgm:prSet presAssocID="{2D6DA175-A24E-4166-9332-E9473563B029}" presName="thickLine" presStyleLbl="alignNode1" presStyleIdx="0" presStyleCnt="5"/>
      <dgm:spPr/>
    </dgm:pt>
    <dgm:pt modelId="{3A853295-72E2-4050-854A-D861EB2CDD53}" type="pres">
      <dgm:prSet presAssocID="{2D6DA175-A24E-4166-9332-E9473563B029}" presName="horz1" presStyleCnt="0"/>
      <dgm:spPr/>
    </dgm:pt>
    <dgm:pt modelId="{133E5649-E5E3-450B-BAD8-596CE9CC8E7F}" type="pres">
      <dgm:prSet presAssocID="{2D6DA175-A24E-4166-9332-E9473563B029}" presName="tx1" presStyleLbl="revTx" presStyleIdx="0" presStyleCnt="5"/>
      <dgm:spPr/>
    </dgm:pt>
    <dgm:pt modelId="{F6ED8DC8-BFD2-4DD8-838B-97FE877A4997}" type="pres">
      <dgm:prSet presAssocID="{2D6DA175-A24E-4166-9332-E9473563B029}" presName="vert1" presStyleCnt="0"/>
      <dgm:spPr/>
    </dgm:pt>
    <dgm:pt modelId="{184213C8-E734-42F6-BEFA-93DB9D8C3DDC}" type="pres">
      <dgm:prSet presAssocID="{13BB8850-F267-4E2E-84DA-8F39CC0134ED}" presName="thickLine" presStyleLbl="alignNode1" presStyleIdx="1" presStyleCnt="5"/>
      <dgm:spPr/>
    </dgm:pt>
    <dgm:pt modelId="{B226C744-47C3-4C7E-A32C-B9F95E26D6BB}" type="pres">
      <dgm:prSet presAssocID="{13BB8850-F267-4E2E-84DA-8F39CC0134ED}" presName="horz1" presStyleCnt="0"/>
      <dgm:spPr/>
    </dgm:pt>
    <dgm:pt modelId="{52DEA52A-928C-4BBD-8551-E2CCC6F267B1}" type="pres">
      <dgm:prSet presAssocID="{13BB8850-F267-4E2E-84DA-8F39CC0134ED}" presName="tx1" presStyleLbl="revTx" presStyleIdx="1" presStyleCnt="5"/>
      <dgm:spPr/>
    </dgm:pt>
    <dgm:pt modelId="{7769D642-1709-4509-9EC7-135BD37DAE44}" type="pres">
      <dgm:prSet presAssocID="{13BB8850-F267-4E2E-84DA-8F39CC0134ED}" presName="vert1" presStyleCnt="0"/>
      <dgm:spPr/>
    </dgm:pt>
    <dgm:pt modelId="{6B2400F1-BF25-4C3C-97A6-8E628F39AF9B}" type="pres">
      <dgm:prSet presAssocID="{783F3DC5-6E2B-4B80-8E61-452E60011500}" presName="thickLine" presStyleLbl="alignNode1" presStyleIdx="2" presStyleCnt="5"/>
      <dgm:spPr/>
    </dgm:pt>
    <dgm:pt modelId="{886521F6-FC24-454D-B83C-A84A60B614EA}" type="pres">
      <dgm:prSet presAssocID="{783F3DC5-6E2B-4B80-8E61-452E60011500}" presName="horz1" presStyleCnt="0"/>
      <dgm:spPr/>
    </dgm:pt>
    <dgm:pt modelId="{7BF75159-CD4A-40CC-9901-FD4516398AC9}" type="pres">
      <dgm:prSet presAssocID="{783F3DC5-6E2B-4B80-8E61-452E60011500}" presName="tx1" presStyleLbl="revTx" presStyleIdx="2" presStyleCnt="5"/>
      <dgm:spPr/>
    </dgm:pt>
    <dgm:pt modelId="{B32052A6-D14E-443A-942B-26F93134D219}" type="pres">
      <dgm:prSet presAssocID="{783F3DC5-6E2B-4B80-8E61-452E60011500}" presName="vert1" presStyleCnt="0"/>
      <dgm:spPr/>
    </dgm:pt>
    <dgm:pt modelId="{CDF6249A-B1C7-4144-AB2E-9299A6572B74}" type="pres">
      <dgm:prSet presAssocID="{32AC8F93-612C-4DB4-BEB3-66A5EEE5D581}" presName="thickLine" presStyleLbl="alignNode1" presStyleIdx="3" presStyleCnt="5"/>
      <dgm:spPr/>
    </dgm:pt>
    <dgm:pt modelId="{445FC8E9-F068-4A68-A08C-249F7D2F73D4}" type="pres">
      <dgm:prSet presAssocID="{32AC8F93-612C-4DB4-BEB3-66A5EEE5D581}" presName="horz1" presStyleCnt="0"/>
      <dgm:spPr/>
    </dgm:pt>
    <dgm:pt modelId="{D92A462B-69C0-4571-A97F-BDA952E2C60B}" type="pres">
      <dgm:prSet presAssocID="{32AC8F93-612C-4DB4-BEB3-66A5EEE5D581}" presName="tx1" presStyleLbl="revTx" presStyleIdx="3" presStyleCnt="5"/>
      <dgm:spPr/>
    </dgm:pt>
    <dgm:pt modelId="{C7E9D95F-976E-4088-9635-69EE7978ABCC}" type="pres">
      <dgm:prSet presAssocID="{32AC8F93-612C-4DB4-BEB3-66A5EEE5D581}" presName="vert1" presStyleCnt="0"/>
      <dgm:spPr/>
    </dgm:pt>
    <dgm:pt modelId="{8C0FE801-E61F-4393-B185-57AF83F023C5}" type="pres">
      <dgm:prSet presAssocID="{80EE41F6-1A36-4FE3-8987-68865114CEBA}" presName="thickLine" presStyleLbl="alignNode1" presStyleIdx="4" presStyleCnt="5"/>
      <dgm:spPr/>
    </dgm:pt>
    <dgm:pt modelId="{D7AE760B-850A-40C6-9F50-13047A48807D}" type="pres">
      <dgm:prSet presAssocID="{80EE41F6-1A36-4FE3-8987-68865114CEBA}" presName="horz1" presStyleCnt="0"/>
      <dgm:spPr/>
    </dgm:pt>
    <dgm:pt modelId="{58BAA08C-7034-47F8-A3C1-069084F6C1CC}" type="pres">
      <dgm:prSet presAssocID="{80EE41F6-1A36-4FE3-8987-68865114CEBA}" presName="tx1" presStyleLbl="revTx" presStyleIdx="4" presStyleCnt="5"/>
      <dgm:spPr/>
    </dgm:pt>
    <dgm:pt modelId="{EA3CB7E6-E82F-4B7F-9B41-C1CAA23B77F9}" type="pres">
      <dgm:prSet presAssocID="{80EE41F6-1A36-4FE3-8987-68865114CEBA}" presName="vert1" presStyleCnt="0"/>
      <dgm:spPr/>
    </dgm:pt>
  </dgm:ptLst>
  <dgm:cxnLst>
    <dgm:cxn modelId="{CCC23908-033B-4CD2-9453-892D727520B1}" type="presOf" srcId="{783F3DC5-6E2B-4B80-8E61-452E60011500}" destId="{7BF75159-CD4A-40CC-9901-FD4516398AC9}" srcOrd="0" destOrd="0" presId="urn:microsoft.com/office/officeart/2008/layout/LinedList"/>
    <dgm:cxn modelId="{A3847808-31C2-47C8-8D18-7DEED3998636}" srcId="{29448E08-4250-43E3-9D5D-3B8B747D5F47}" destId="{32AC8F93-612C-4DB4-BEB3-66A5EEE5D581}" srcOrd="3" destOrd="0" parTransId="{C85E167A-F5BC-42A6-8B3F-AB5E306B7410}" sibTransId="{FCE1362D-85F7-46C3-A84A-64241AE04119}"/>
    <dgm:cxn modelId="{B308FD75-188E-419E-A64B-6226A505842E}" type="presOf" srcId="{2D6DA175-A24E-4166-9332-E9473563B029}" destId="{133E5649-E5E3-450B-BAD8-596CE9CC8E7F}" srcOrd="0" destOrd="0" presId="urn:microsoft.com/office/officeart/2008/layout/LinedList"/>
    <dgm:cxn modelId="{CF451A8A-6CAB-4822-BC28-264C847D865D}" type="presOf" srcId="{13BB8850-F267-4E2E-84DA-8F39CC0134ED}" destId="{52DEA52A-928C-4BBD-8551-E2CCC6F267B1}" srcOrd="0" destOrd="0" presId="urn:microsoft.com/office/officeart/2008/layout/LinedList"/>
    <dgm:cxn modelId="{C3BCA6AF-6B60-4064-B915-525C6247249D}" srcId="{29448E08-4250-43E3-9D5D-3B8B747D5F47}" destId="{783F3DC5-6E2B-4B80-8E61-452E60011500}" srcOrd="2" destOrd="0" parTransId="{D3687E02-3F78-4225-BCCD-525C69814C46}" sibTransId="{12BF1A89-CBC0-496F-B4B1-52AE6606CFB0}"/>
    <dgm:cxn modelId="{91121EC4-495F-4F67-A676-2046BAC8FC4C}" srcId="{29448E08-4250-43E3-9D5D-3B8B747D5F47}" destId="{2D6DA175-A24E-4166-9332-E9473563B029}" srcOrd="0" destOrd="0" parTransId="{CE6289FD-AB26-492E-9EC5-7F40E0AE1609}" sibTransId="{89BEDC27-0DAE-4B88-9EA5-645798499A39}"/>
    <dgm:cxn modelId="{1BD8BCCE-ADCE-4FA2-BDCE-96397B1D5885}" srcId="{29448E08-4250-43E3-9D5D-3B8B747D5F47}" destId="{80EE41F6-1A36-4FE3-8987-68865114CEBA}" srcOrd="4" destOrd="0" parTransId="{0ABEF4C1-7579-4808-B296-D2CD1EE0EBDF}" sibTransId="{8EC3CC21-324A-4879-9FEA-61ACF34512B2}"/>
    <dgm:cxn modelId="{99CB2CD2-B375-4C98-AC10-903D94F7F0AD}" type="presOf" srcId="{80EE41F6-1A36-4FE3-8987-68865114CEBA}" destId="{58BAA08C-7034-47F8-A3C1-069084F6C1CC}" srcOrd="0" destOrd="0" presId="urn:microsoft.com/office/officeart/2008/layout/LinedList"/>
    <dgm:cxn modelId="{61C9B4E7-2D27-491D-B3E5-2BEB41CDCA42}" type="presOf" srcId="{32AC8F93-612C-4DB4-BEB3-66A5EEE5D581}" destId="{D92A462B-69C0-4571-A97F-BDA952E2C60B}" srcOrd="0" destOrd="0" presId="urn:microsoft.com/office/officeart/2008/layout/LinedList"/>
    <dgm:cxn modelId="{F0B235EC-5A70-4FF4-B4A7-10C97FF2C0B0}" type="presOf" srcId="{29448E08-4250-43E3-9D5D-3B8B747D5F47}" destId="{59412777-E533-4958-933C-002FB6C6607A}" srcOrd="0" destOrd="0" presId="urn:microsoft.com/office/officeart/2008/layout/LinedList"/>
    <dgm:cxn modelId="{2E07ACEC-7D34-489D-B2FF-3DAF06F47DD5}" srcId="{29448E08-4250-43E3-9D5D-3B8B747D5F47}" destId="{13BB8850-F267-4E2E-84DA-8F39CC0134ED}" srcOrd="1" destOrd="0" parTransId="{57735D6C-B275-4221-8025-09FB8014F424}" sibTransId="{1EF52A46-7A5D-4CEE-8A3A-BD0D81ED5C9F}"/>
    <dgm:cxn modelId="{44687F95-7C00-4AB8-9BD6-B3AB39F832FA}" type="presParOf" srcId="{59412777-E533-4958-933C-002FB6C6607A}" destId="{730A685A-E276-4AF8-B968-A3359A61326E}" srcOrd="0" destOrd="0" presId="urn:microsoft.com/office/officeart/2008/layout/LinedList"/>
    <dgm:cxn modelId="{DE95A80E-8269-47ED-8C09-94B6B02CFDB6}" type="presParOf" srcId="{59412777-E533-4958-933C-002FB6C6607A}" destId="{3A853295-72E2-4050-854A-D861EB2CDD53}" srcOrd="1" destOrd="0" presId="urn:microsoft.com/office/officeart/2008/layout/LinedList"/>
    <dgm:cxn modelId="{57440C1E-8768-435A-A5CC-22173CE6004E}" type="presParOf" srcId="{3A853295-72E2-4050-854A-D861EB2CDD53}" destId="{133E5649-E5E3-450B-BAD8-596CE9CC8E7F}" srcOrd="0" destOrd="0" presId="urn:microsoft.com/office/officeart/2008/layout/LinedList"/>
    <dgm:cxn modelId="{E466DB59-E0C0-4709-9D74-04A4CF5E7804}" type="presParOf" srcId="{3A853295-72E2-4050-854A-D861EB2CDD53}" destId="{F6ED8DC8-BFD2-4DD8-838B-97FE877A4997}" srcOrd="1" destOrd="0" presId="urn:microsoft.com/office/officeart/2008/layout/LinedList"/>
    <dgm:cxn modelId="{3BADEDF7-7B66-4746-B126-15B516966C62}" type="presParOf" srcId="{59412777-E533-4958-933C-002FB6C6607A}" destId="{184213C8-E734-42F6-BEFA-93DB9D8C3DDC}" srcOrd="2" destOrd="0" presId="urn:microsoft.com/office/officeart/2008/layout/LinedList"/>
    <dgm:cxn modelId="{9426B758-6475-42B5-BE2E-25F891E73489}" type="presParOf" srcId="{59412777-E533-4958-933C-002FB6C6607A}" destId="{B226C744-47C3-4C7E-A32C-B9F95E26D6BB}" srcOrd="3" destOrd="0" presId="urn:microsoft.com/office/officeart/2008/layout/LinedList"/>
    <dgm:cxn modelId="{93DFD4CF-57D3-40E4-92D9-40A1BC974002}" type="presParOf" srcId="{B226C744-47C3-4C7E-A32C-B9F95E26D6BB}" destId="{52DEA52A-928C-4BBD-8551-E2CCC6F267B1}" srcOrd="0" destOrd="0" presId="urn:microsoft.com/office/officeart/2008/layout/LinedList"/>
    <dgm:cxn modelId="{BD7E3DD0-6F9F-4D0A-8762-7BFB316D5801}" type="presParOf" srcId="{B226C744-47C3-4C7E-A32C-B9F95E26D6BB}" destId="{7769D642-1709-4509-9EC7-135BD37DAE44}" srcOrd="1" destOrd="0" presId="urn:microsoft.com/office/officeart/2008/layout/LinedList"/>
    <dgm:cxn modelId="{BBDA946B-9FB3-4C76-BCA3-EF721095B6A8}" type="presParOf" srcId="{59412777-E533-4958-933C-002FB6C6607A}" destId="{6B2400F1-BF25-4C3C-97A6-8E628F39AF9B}" srcOrd="4" destOrd="0" presId="urn:microsoft.com/office/officeart/2008/layout/LinedList"/>
    <dgm:cxn modelId="{D1FE76ED-BC2F-4EC3-9C25-6BAE56FEB939}" type="presParOf" srcId="{59412777-E533-4958-933C-002FB6C6607A}" destId="{886521F6-FC24-454D-B83C-A84A60B614EA}" srcOrd="5" destOrd="0" presId="urn:microsoft.com/office/officeart/2008/layout/LinedList"/>
    <dgm:cxn modelId="{D1FF0F9B-B1B8-4344-A986-0C4A9C646D1F}" type="presParOf" srcId="{886521F6-FC24-454D-B83C-A84A60B614EA}" destId="{7BF75159-CD4A-40CC-9901-FD4516398AC9}" srcOrd="0" destOrd="0" presId="urn:microsoft.com/office/officeart/2008/layout/LinedList"/>
    <dgm:cxn modelId="{998758AF-6096-44BC-A660-C9BED881EEA5}" type="presParOf" srcId="{886521F6-FC24-454D-B83C-A84A60B614EA}" destId="{B32052A6-D14E-443A-942B-26F93134D219}" srcOrd="1" destOrd="0" presId="urn:microsoft.com/office/officeart/2008/layout/LinedList"/>
    <dgm:cxn modelId="{0ECCFD22-C7A8-453B-AE11-EFEECF291A20}" type="presParOf" srcId="{59412777-E533-4958-933C-002FB6C6607A}" destId="{CDF6249A-B1C7-4144-AB2E-9299A6572B74}" srcOrd="6" destOrd="0" presId="urn:microsoft.com/office/officeart/2008/layout/LinedList"/>
    <dgm:cxn modelId="{2A0541CB-E568-4593-9BD0-0CAC3FCEC963}" type="presParOf" srcId="{59412777-E533-4958-933C-002FB6C6607A}" destId="{445FC8E9-F068-4A68-A08C-249F7D2F73D4}" srcOrd="7" destOrd="0" presId="urn:microsoft.com/office/officeart/2008/layout/LinedList"/>
    <dgm:cxn modelId="{A457AC17-539D-4723-8D79-66266674307E}" type="presParOf" srcId="{445FC8E9-F068-4A68-A08C-249F7D2F73D4}" destId="{D92A462B-69C0-4571-A97F-BDA952E2C60B}" srcOrd="0" destOrd="0" presId="urn:microsoft.com/office/officeart/2008/layout/LinedList"/>
    <dgm:cxn modelId="{033D3372-E6D8-41FC-84B7-FA17FBF39DDF}" type="presParOf" srcId="{445FC8E9-F068-4A68-A08C-249F7D2F73D4}" destId="{C7E9D95F-976E-4088-9635-69EE7978ABCC}" srcOrd="1" destOrd="0" presId="urn:microsoft.com/office/officeart/2008/layout/LinedList"/>
    <dgm:cxn modelId="{5D5B1242-FECA-4AB1-BDD0-B93EF3F2456D}" type="presParOf" srcId="{59412777-E533-4958-933C-002FB6C6607A}" destId="{8C0FE801-E61F-4393-B185-57AF83F023C5}" srcOrd="8" destOrd="0" presId="urn:microsoft.com/office/officeart/2008/layout/LinedList"/>
    <dgm:cxn modelId="{B95E4472-B77C-4406-BED2-F7E41392DF6D}" type="presParOf" srcId="{59412777-E533-4958-933C-002FB6C6607A}" destId="{D7AE760B-850A-40C6-9F50-13047A48807D}" srcOrd="9" destOrd="0" presId="urn:microsoft.com/office/officeart/2008/layout/LinedList"/>
    <dgm:cxn modelId="{11133C50-7D21-40BC-9733-570E2619C821}" type="presParOf" srcId="{D7AE760B-850A-40C6-9F50-13047A48807D}" destId="{58BAA08C-7034-47F8-A3C1-069084F6C1CC}" srcOrd="0" destOrd="0" presId="urn:microsoft.com/office/officeart/2008/layout/LinedList"/>
    <dgm:cxn modelId="{0A0BC2AD-B4B9-4BFC-9083-067868CDC977}" type="presParOf" srcId="{D7AE760B-850A-40C6-9F50-13047A48807D}" destId="{EA3CB7E6-E82F-4B7F-9B41-C1CAA23B77F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4ABB020-8B39-4069-B5FF-E3BA04F40732}">
      <dsp:nvSpPr>
        <dsp:cNvPr id="0" name=""/>
        <dsp:cNvSpPr/>
      </dsp:nvSpPr>
      <dsp:spPr>
        <a:xfrm>
          <a:off x="2310" y="892539"/>
          <a:ext cx="1833041" cy="2566258"/>
        </a:xfrm>
        <a:prstGeom prst="rect">
          <a:avLst/>
        </a:prstGeom>
        <a:solidFill>
          <a:schemeClr val="accent5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5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911" tIns="330200" rIns="142911" bIns="33020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Predict individuals at risk of financial exclusion in Kenya.</a:t>
          </a:r>
        </a:p>
      </dsp:txBody>
      <dsp:txXfrm>
        <a:off x="2310" y="1867718"/>
        <a:ext cx="1833041" cy="1539754"/>
      </dsp:txXfrm>
    </dsp:sp>
    <dsp:sp modelId="{0B62AEEE-DEA3-4C95-9E78-8F0810281611}">
      <dsp:nvSpPr>
        <dsp:cNvPr id="0" name=""/>
        <dsp:cNvSpPr/>
      </dsp:nvSpPr>
      <dsp:spPr>
        <a:xfrm>
          <a:off x="533892" y="1149165"/>
          <a:ext cx="769877" cy="769877"/>
        </a:xfrm>
        <a:prstGeom prst="ellipse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023" tIns="12700" rIns="60023" bIns="1270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1</a:t>
          </a:r>
        </a:p>
      </dsp:txBody>
      <dsp:txXfrm>
        <a:off x="646638" y="1261911"/>
        <a:ext cx="544385" cy="544385"/>
      </dsp:txXfrm>
    </dsp:sp>
    <dsp:sp modelId="{D443D8DD-6A45-4EB3-A55C-6FD67521D2CA}">
      <dsp:nvSpPr>
        <dsp:cNvPr id="0" name=""/>
        <dsp:cNvSpPr/>
      </dsp:nvSpPr>
      <dsp:spPr>
        <a:xfrm>
          <a:off x="2310" y="3458726"/>
          <a:ext cx="1833041" cy="72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E6C0826-ED9A-4A54-AD1C-093743E6EEFD}">
      <dsp:nvSpPr>
        <dsp:cNvPr id="0" name=""/>
        <dsp:cNvSpPr/>
      </dsp:nvSpPr>
      <dsp:spPr>
        <a:xfrm>
          <a:off x="2018656" y="892539"/>
          <a:ext cx="1833041" cy="2566258"/>
        </a:xfrm>
        <a:prstGeom prst="rect">
          <a:avLst/>
        </a:prstGeom>
        <a:solidFill>
          <a:schemeClr val="accent5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5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911" tIns="330200" rIns="142911" bIns="33020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Use machine learning to support financial inclusion policies.</a:t>
          </a:r>
        </a:p>
      </dsp:txBody>
      <dsp:txXfrm>
        <a:off x="2018656" y="1867718"/>
        <a:ext cx="1833041" cy="1539754"/>
      </dsp:txXfrm>
    </dsp:sp>
    <dsp:sp modelId="{4724B972-EB8E-41F8-A243-D9AA6943094E}">
      <dsp:nvSpPr>
        <dsp:cNvPr id="0" name=""/>
        <dsp:cNvSpPr/>
      </dsp:nvSpPr>
      <dsp:spPr>
        <a:xfrm>
          <a:off x="2550238" y="1149165"/>
          <a:ext cx="769877" cy="769877"/>
        </a:xfrm>
        <a:prstGeom prst="ellipse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023" tIns="12700" rIns="60023" bIns="1270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2</a:t>
          </a:r>
        </a:p>
      </dsp:txBody>
      <dsp:txXfrm>
        <a:off x="2662984" y="1261911"/>
        <a:ext cx="544385" cy="544385"/>
      </dsp:txXfrm>
    </dsp:sp>
    <dsp:sp modelId="{403FD177-B0D2-48D9-AEEB-1E3AA073C107}">
      <dsp:nvSpPr>
        <dsp:cNvPr id="0" name=""/>
        <dsp:cNvSpPr/>
      </dsp:nvSpPr>
      <dsp:spPr>
        <a:xfrm>
          <a:off x="2018656" y="3458726"/>
          <a:ext cx="1833041" cy="72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0168ED1-5845-4119-86FD-3B9ECB373799}">
      <dsp:nvSpPr>
        <dsp:cNvPr id="0" name=""/>
        <dsp:cNvSpPr/>
      </dsp:nvSpPr>
      <dsp:spPr>
        <a:xfrm>
          <a:off x="4035002" y="892539"/>
          <a:ext cx="1833041" cy="2566258"/>
        </a:xfrm>
        <a:prstGeom prst="rect">
          <a:avLst/>
        </a:prstGeom>
        <a:solidFill>
          <a:schemeClr val="accent5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5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911" tIns="330200" rIns="142911" bIns="33020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Provide transparent and explainable predictions.</a:t>
          </a:r>
        </a:p>
      </dsp:txBody>
      <dsp:txXfrm>
        <a:off x="4035002" y="1867718"/>
        <a:ext cx="1833041" cy="1539754"/>
      </dsp:txXfrm>
    </dsp:sp>
    <dsp:sp modelId="{2782B6B2-5071-4ED4-A22E-ED5E44652DD6}">
      <dsp:nvSpPr>
        <dsp:cNvPr id="0" name=""/>
        <dsp:cNvSpPr/>
      </dsp:nvSpPr>
      <dsp:spPr>
        <a:xfrm>
          <a:off x="4566584" y="1149165"/>
          <a:ext cx="769877" cy="769877"/>
        </a:xfrm>
        <a:prstGeom prst="ellipse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023" tIns="12700" rIns="60023" bIns="1270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3</a:t>
          </a:r>
        </a:p>
      </dsp:txBody>
      <dsp:txXfrm>
        <a:off x="4679330" y="1261911"/>
        <a:ext cx="544385" cy="544385"/>
      </dsp:txXfrm>
    </dsp:sp>
    <dsp:sp modelId="{B3409B1B-F176-43F6-B20E-5D839FB620FE}">
      <dsp:nvSpPr>
        <dsp:cNvPr id="0" name=""/>
        <dsp:cNvSpPr/>
      </dsp:nvSpPr>
      <dsp:spPr>
        <a:xfrm>
          <a:off x="4035002" y="3458726"/>
          <a:ext cx="1833041" cy="72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CFF0C39-444B-4342-B250-54ABEBEB0685}">
      <dsp:nvSpPr>
        <dsp:cNvPr id="0" name=""/>
        <dsp:cNvSpPr/>
      </dsp:nvSpPr>
      <dsp:spPr>
        <a:xfrm>
          <a:off x="6051347" y="892539"/>
          <a:ext cx="1833041" cy="2566258"/>
        </a:xfrm>
        <a:prstGeom prst="rect">
          <a:avLst/>
        </a:prstGeom>
        <a:solidFill>
          <a:schemeClr val="accent5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5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911" tIns="330200" rIns="142911" bIns="33020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Enable targeted interventions for vulnerable groups.</a:t>
          </a:r>
        </a:p>
      </dsp:txBody>
      <dsp:txXfrm>
        <a:off x="6051347" y="1867718"/>
        <a:ext cx="1833041" cy="1539754"/>
      </dsp:txXfrm>
    </dsp:sp>
    <dsp:sp modelId="{7BC5105E-E954-4877-8E0D-0837768230B1}">
      <dsp:nvSpPr>
        <dsp:cNvPr id="0" name=""/>
        <dsp:cNvSpPr/>
      </dsp:nvSpPr>
      <dsp:spPr>
        <a:xfrm>
          <a:off x="6582929" y="1149165"/>
          <a:ext cx="769877" cy="769877"/>
        </a:xfrm>
        <a:prstGeom prst="ellipse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023" tIns="12700" rIns="60023" bIns="1270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700" kern="1200"/>
            <a:t>4</a:t>
          </a:r>
        </a:p>
      </dsp:txBody>
      <dsp:txXfrm>
        <a:off x="6695675" y="1261911"/>
        <a:ext cx="544385" cy="544385"/>
      </dsp:txXfrm>
    </dsp:sp>
    <dsp:sp modelId="{E3C44A68-A614-40A4-ADC0-E241D4A78EA2}">
      <dsp:nvSpPr>
        <dsp:cNvPr id="0" name=""/>
        <dsp:cNvSpPr/>
      </dsp:nvSpPr>
      <dsp:spPr>
        <a:xfrm>
          <a:off x="6051347" y="3458726"/>
          <a:ext cx="1833041" cy="72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F05DBC-7CAC-4ACA-9FBB-9B471035CCD6}">
      <dsp:nvSpPr>
        <dsp:cNvPr id="0" name=""/>
        <dsp:cNvSpPr/>
      </dsp:nvSpPr>
      <dsp:spPr>
        <a:xfrm>
          <a:off x="0" y="511"/>
          <a:ext cx="8195871" cy="119765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D66460D-4253-4D0F-A888-8D6EC59C2287}">
      <dsp:nvSpPr>
        <dsp:cNvPr id="0" name=""/>
        <dsp:cNvSpPr/>
      </dsp:nvSpPr>
      <dsp:spPr>
        <a:xfrm>
          <a:off x="362289" y="269983"/>
          <a:ext cx="658708" cy="65870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241805-7B3F-46D7-8B00-A9832ADEFC40}">
      <dsp:nvSpPr>
        <dsp:cNvPr id="0" name=""/>
        <dsp:cNvSpPr/>
      </dsp:nvSpPr>
      <dsp:spPr>
        <a:xfrm>
          <a:off x="1383287" y="511"/>
          <a:ext cx="6812583" cy="11976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751" tIns="126751" rIns="126751" bIns="126751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Millions remain outside formal financial systems.</a:t>
          </a:r>
        </a:p>
      </dsp:txBody>
      <dsp:txXfrm>
        <a:off x="1383287" y="511"/>
        <a:ext cx="6812583" cy="1197651"/>
      </dsp:txXfrm>
    </dsp:sp>
    <dsp:sp modelId="{BCBFDAC9-4599-4E59-B7C8-E23856BACD65}">
      <dsp:nvSpPr>
        <dsp:cNvPr id="0" name=""/>
        <dsp:cNvSpPr/>
      </dsp:nvSpPr>
      <dsp:spPr>
        <a:xfrm>
          <a:off x="0" y="1497576"/>
          <a:ext cx="8195871" cy="119765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91C397-ACB0-484D-ADCD-6961CBFFF61E}">
      <dsp:nvSpPr>
        <dsp:cNvPr id="0" name=""/>
        <dsp:cNvSpPr/>
      </dsp:nvSpPr>
      <dsp:spPr>
        <a:xfrm>
          <a:off x="362289" y="1767048"/>
          <a:ext cx="658708" cy="65870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18910D-ECA2-4551-978A-9E9552EE34C4}">
      <dsp:nvSpPr>
        <dsp:cNvPr id="0" name=""/>
        <dsp:cNvSpPr/>
      </dsp:nvSpPr>
      <dsp:spPr>
        <a:xfrm>
          <a:off x="1383287" y="1497576"/>
          <a:ext cx="6812583" cy="11976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751" tIns="126751" rIns="126751" bIns="126751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Financial exclusion limits economic growth and resilience.</a:t>
          </a:r>
        </a:p>
      </dsp:txBody>
      <dsp:txXfrm>
        <a:off x="1383287" y="1497576"/>
        <a:ext cx="6812583" cy="1197651"/>
      </dsp:txXfrm>
    </dsp:sp>
    <dsp:sp modelId="{4E59A8B7-3C20-4FFC-8CB2-5EEA23678C2E}">
      <dsp:nvSpPr>
        <dsp:cNvPr id="0" name=""/>
        <dsp:cNvSpPr/>
      </dsp:nvSpPr>
      <dsp:spPr>
        <a:xfrm>
          <a:off x="0" y="2994641"/>
          <a:ext cx="8195871" cy="119765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AAD5CD-7E91-4137-BD45-1F4598C332D9}">
      <dsp:nvSpPr>
        <dsp:cNvPr id="0" name=""/>
        <dsp:cNvSpPr/>
      </dsp:nvSpPr>
      <dsp:spPr>
        <a:xfrm>
          <a:off x="362289" y="3264113"/>
          <a:ext cx="658708" cy="65870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6E773A-2874-4B02-AE9D-B589D2C869B5}">
      <dsp:nvSpPr>
        <dsp:cNvPr id="0" name=""/>
        <dsp:cNvSpPr/>
      </dsp:nvSpPr>
      <dsp:spPr>
        <a:xfrm>
          <a:off x="1383287" y="2994641"/>
          <a:ext cx="6812583" cy="11976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751" tIns="126751" rIns="126751" bIns="126751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Manual identification of high-risk groups is inefficient.</a:t>
          </a:r>
        </a:p>
      </dsp:txBody>
      <dsp:txXfrm>
        <a:off x="1383287" y="2994641"/>
        <a:ext cx="6812583" cy="119765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99792B-157E-44D0-AE4C-96C4F85F8EBB}">
      <dsp:nvSpPr>
        <dsp:cNvPr id="0" name=""/>
        <dsp:cNvSpPr/>
      </dsp:nvSpPr>
      <dsp:spPr>
        <a:xfrm>
          <a:off x="0" y="82101"/>
          <a:ext cx="8229600" cy="1034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Missing categorical values filled using most frequent category.</a:t>
          </a:r>
        </a:p>
      </dsp:txBody>
      <dsp:txXfrm>
        <a:off x="50489" y="132590"/>
        <a:ext cx="8128622" cy="933302"/>
      </dsp:txXfrm>
    </dsp:sp>
    <dsp:sp modelId="{4EDD3C6C-1661-4E73-A955-4FACABDBDAFE}">
      <dsp:nvSpPr>
        <dsp:cNvPr id="0" name=""/>
        <dsp:cNvSpPr/>
      </dsp:nvSpPr>
      <dsp:spPr>
        <a:xfrm>
          <a:off x="0" y="1191261"/>
          <a:ext cx="8229600" cy="1034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Missing numerical values filled using median imputation.</a:t>
          </a:r>
        </a:p>
      </dsp:txBody>
      <dsp:txXfrm>
        <a:off x="50489" y="1241750"/>
        <a:ext cx="8128622" cy="933302"/>
      </dsp:txXfrm>
    </dsp:sp>
    <dsp:sp modelId="{3A50BC03-F7EB-48CD-B7D9-C310EA3F9A68}">
      <dsp:nvSpPr>
        <dsp:cNvPr id="0" name=""/>
        <dsp:cNvSpPr/>
      </dsp:nvSpPr>
      <dsp:spPr>
        <a:xfrm>
          <a:off x="0" y="2300421"/>
          <a:ext cx="8229600" cy="1034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OneHotEncoder transformed categorical variables.</a:t>
          </a:r>
        </a:p>
      </dsp:txBody>
      <dsp:txXfrm>
        <a:off x="50489" y="2350910"/>
        <a:ext cx="8128622" cy="933302"/>
      </dsp:txXfrm>
    </dsp:sp>
    <dsp:sp modelId="{7EAB94C0-2395-4B33-B7E6-6E8F72420453}">
      <dsp:nvSpPr>
        <dsp:cNvPr id="0" name=""/>
        <dsp:cNvSpPr/>
      </dsp:nvSpPr>
      <dsp:spPr>
        <a:xfrm>
          <a:off x="0" y="3409581"/>
          <a:ext cx="8229600" cy="10342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StandardScaler normalized numerical features.</a:t>
          </a:r>
        </a:p>
      </dsp:txBody>
      <dsp:txXfrm>
        <a:off x="50489" y="3460070"/>
        <a:ext cx="8128622" cy="93330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6F139C7-3C9F-41E0-8DA1-1ED957181179}">
      <dsp:nvSpPr>
        <dsp:cNvPr id="0" name=""/>
        <dsp:cNvSpPr/>
      </dsp:nvSpPr>
      <dsp:spPr>
        <a:xfrm rot="5400000">
          <a:off x="1877297" y="383528"/>
          <a:ext cx="1232955" cy="107267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Ensures clean and consistent input data.</a:t>
          </a:r>
        </a:p>
      </dsp:txBody>
      <dsp:txXfrm rot="-5400000">
        <a:off x="2124597" y="495521"/>
        <a:ext cx="738354" cy="848685"/>
      </dsp:txXfrm>
    </dsp:sp>
    <dsp:sp modelId="{2DF02D78-F844-4699-B182-FFE1EDF5C171}">
      <dsp:nvSpPr>
        <dsp:cNvPr id="0" name=""/>
        <dsp:cNvSpPr/>
      </dsp:nvSpPr>
      <dsp:spPr>
        <a:xfrm>
          <a:off x="3062660" y="549977"/>
          <a:ext cx="1375977" cy="7397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E6492C6-15BE-49FF-ADEE-445554F61F8D}">
      <dsp:nvSpPr>
        <dsp:cNvPr id="0" name=""/>
        <dsp:cNvSpPr/>
      </dsp:nvSpPr>
      <dsp:spPr>
        <a:xfrm rot="5400000">
          <a:off x="718812" y="383528"/>
          <a:ext cx="1232955" cy="107267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 rot="-5400000">
        <a:off x="966112" y="495521"/>
        <a:ext cx="738354" cy="848685"/>
      </dsp:txXfrm>
    </dsp:sp>
    <dsp:sp modelId="{31EEC536-BF47-45F7-B50C-C64BA9ADBD1C}">
      <dsp:nvSpPr>
        <dsp:cNvPr id="0" name=""/>
        <dsp:cNvSpPr/>
      </dsp:nvSpPr>
      <dsp:spPr>
        <a:xfrm rot="5400000">
          <a:off x="1295835" y="1430060"/>
          <a:ext cx="1232955" cy="107267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Reduces model bias caused by missing values.</a:t>
          </a:r>
        </a:p>
      </dsp:txBody>
      <dsp:txXfrm rot="-5400000">
        <a:off x="1543135" y="1542053"/>
        <a:ext cx="738354" cy="848685"/>
      </dsp:txXfrm>
    </dsp:sp>
    <dsp:sp modelId="{784643EB-BA92-4444-8CD8-B845A8A8F767}">
      <dsp:nvSpPr>
        <dsp:cNvPr id="0" name=""/>
        <dsp:cNvSpPr/>
      </dsp:nvSpPr>
      <dsp:spPr>
        <a:xfrm>
          <a:off x="0" y="1596509"/>
          <a:ext cx="1331591" cy="7397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D221B08-458A-47A4-B85A-78F406F91F79}">
      <dsp:nvSpPr>
        <dsp:cNvPr id="0" name=""/>
        <dsp:cNvSpPr/>
      </dsp:nvSpPr>
      <dsp:spPr>
        <a:xfrm rot="5400000">
          <a:off x="2454320" y="1430060"/>
          <a:ext cx="1232955" cy="107267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 rot="-5400000">
        <a:off x="2701620" y="1542053"/>
        <a:ext cx="738354" cy="848685"/>
      </dsp:txXfrm>
    </dsp:sp>
    <dsp:sp modelId="{63B00904-4E28-4387-82E4-D8BB9194392D}">
      <dsp:nvSpPr>
        <dsp:cNvPr id="0" name=""/>
        <dsp:cNvSpPr/>
      </dsp:nvSpPr>
      <dsp:spPr>
        <a:xfrm rot="5400000">
          <a:off x="1877297" y="2476592"/>
          <a:ext cx="1232955" cy="107267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Improves model stability and predictive reliability.</a:t>
          </a:r>
        </a:p>
      </dsp:txBody>
      <dsp:txXfrm rot="-5400000">
        <a:off x="2124597" y="2588585"/>
        <a:ext cx="738354" cy="848685"/>
      </dsp:txXfrm>
    </dsp:sp>
    <dsp:sp modelId="{DA1B354D-5EC1-4809-836C-514A7E2123E6}">
      <dsp:nvSpPr>
        <dsp:cNvPr id="0" name=""/>
        <dsp:cNvSpPr/>
      </dsp:nvSpPr>
      <dsp:spPr>
        <a:xfrm>
          <a:off x="3062660" y="2643041"/>
          <a:ext cx="1375977" cy="7397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C6FC7CB-B8D0-44BB-A5B4-A40CE294B288}">
      <dsp:nvSpPr>
        <dsp:cNvPr id="0" name=""/>
        <dsp:cNvSpPr/>
      </dsp:nvSpPr>
      <dsp:spPr>
        <a:xfrm rot="5400000">
          <a:off x="718812" y="2476592"/>
          <a:ext cx="1232955" cy="107267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 rot="-5400000">
        <a:off x="966112" y="2588585"/>
        <a:ext cx="738354" cy="848685"/>
      </dsp:txXfrm>
    </dsp:sp>
    <dsp:sp modelId="{22381231-9F21-4792-8B6E-6B1121EEBD2D}">
      <dsp:nvSpPr>
        <dsp:cNvPr id="0" name=""/>
        <dsp:cNvSpPr/>
      </dsp:nvSpPr>
      <dsp:spPr>
        <a:xfrm rot="5400000">
          <a:off x="1295835" y="3523124"/>
          <a:ext cx="1232955" cy="107267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/>
            <a:t>Prevents data leakage during training and testing.</a:t>
          </a:r>
        </a:p>
      </dsp:txBody>
      <dsp:txXfrm rot="-5400000">
        <a:off x="1543135" y="3635117"/>
        <a:ext cx="738354" cy="848685"/>
      </dsp:txXfrm>
    </dsp:sp>
    <dsp:sp modelId="{9C719519-ADF1-456A-B61A-65B3E06C4B7B}">
      <dsp:nvSpPr>
        <dsp:cNvPr id="0" name=""/>
        <dsp:cNvSpPr/>
      </dsp:nvSpPr>
      <dsp:spPr>
        <a:xfrm>
          <a:off x="0" y="3689573"/>
          <a:ext cx="1331591" cy="7397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90CD618-2C4E-42F3-91D5-C5B1863508B6}">
      <dsp:nvSpPr>
        <dsp:cNvPr id="0" name=""/>
        <dsp:cNvSpPr/>
      </dsp:nvSpPr>
      <dsp:spPr>
        <a:xfrm rot="5400000">
          <a:off x="2454320" y="3523124"/>
          <a:ext cx="1232955" cy="1072670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 rot="-5400000">
        <a:off x="2701620" y="3635117"/>
        <a:ext cx="738354" cy="84868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05547DC-7BCB-4674-957B-43915A368EE3}">
      <dsp:nvSpPr>
        <dsp:cNvPr id="0" name=""/>
        <dsp:cNvSpPr/>
      </dsp:nvSpPr>
      <dsp:spPr>
        <a:xfrm>
          <a:off x="25368" y="795493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38E313-FC4F-4F7B-84B9-E592D34A38B6}">
      <dsp:nvSpPr>
        <dsp:cNvPr id="0" name=""/>
        <dsp:cNvSpPr/>
      </dsp:nvSpPr>
      <dsp:spPr>
        <a:xfrm>
          <a:off x="252752" y="1022877"/>
          <a:ext cx="628012" cy="62801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14D781-0BBD-46C7-AAC8-4E6E02D954C0}">
      <dsp:nvSpPr>
        <dsp:cNvPr id="0" name=""/>
        <dsp:cNvSpPr/>
      </dsp:nvSpPr>
      <dsp:spPr>
        <a:xfrm>
          <a:off x="1340173" y="795493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Builds trees sequentially to correct previous errors.</a:t>
          </a:r>
        </a:p>
      </dsp:txBody>
      <dsp:txXfrm>
        <a:off x="1340173" y="795493"/>
        <a:ext cx="2552269" cy="1082781"/>
      </dsp:txXfrm>
    </dsp:sp>
    <dsp:sp modelId="{ACCC02FE-966F-4092-8A7E-820C78DC09C3}">
      <dsp:nvSpPr>
        <dsp:cNvPr id="0" name=""/>
        <dsp:cNvSpPr/>
      </dsp:nvSpPr>
      <dsp:spPr>
        <a:xfrm>
          <a:off x="4337156" y="795493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6CA88C-CFC8-4DE7-AB15-2333EE16F928}">
      <dsp:nvSpPr>
        <dsp:cNvPr id="0" name=""/>
        <dsp:cNvSpPr/>
      </dsp:nvSpPr>
      <dsp:spPr>
        <a:xfrm>
          <a:off x="4564540" y="1022877"/>
          <a:ext cx="628012" cy="62801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BABCDD-494C-4D90-B0ED-E80FCA5F6EA3}">
      <dsp:nvSpPr>
        <dsp:cNvPr id="0" name=""/>
        <dsp:cNvSpPr/>
      </dsp:nvSpPr>
      <dsp:spPr>
        <a:xfrm>
          <a:off x="5651962" y="795493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Handles mixed feature interactions effectively.</a:t>
          </a:r>
        </a:p>
      </dsp:txBody>
      <dsp:txXfrm>
        <a:off x="5651962" y="795493"/>
        <a:ext cx="2552269" cy="1082781"/>
      </dsp:txXfrm>
    </dsp:sp>
    <dsp:sp modelId="{C55E4CDE-A0C4-4C85-A60C-13CB816230DA}">
      <dsp:nvSpPr>
        <dsp:cNvPr id="0" name=""/>
        <dsp:cNvSpPr/>
      </dsp:nvSpPr>
      <dsp:spPr>
        <a:xfrm>
          <a:off x="25368" y="2647688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8E6B3A0-98D3-408E-830B-E139BA9B2DC4}">
      <dsp:nvSpPr>
        <dsp:cNvPr id="0" name=""/>
        <dsp:cNvSpPr/>
      </dsp:nvSpPr>
      <dsp:spPr>
        <a:xfrm>
          <a:off x="252752" y="2875072"/>
          <a:ext cx="628012" cy="62801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776296-1F77-42BF-9862-642C4CC05A23}">
      <dsp:nvSpPr>
        <dsp:cNvPr id="0" name=""/>
        <dsp:cNvSpPr/>
      </dsp:nvSpPr>
      <dsp:spPr>
        <a:xfrm>
          <a:off x="1340173" y="2647688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Reduces bias while maintaining strong predictive power.</a:t>
          </a:r>
        </a:p>
      </dsp:txBody>
      <dsp:txXfrm>
        <a:off x="1340173" y="2647688"/>
        <a:ext cx="2552269" cy="1082781"/>
      </dsp:txXfrm>
    </dsp:sp>
    <dsp:sp modelId="{8AC461A3-CBDB-4E76-989D-EF6054832426}">
      <dsp:nvSpPr>
        <dsp:cNvPr id="0" name=""/>
        <dsp:cNvSpPr/>
      </dsp:nvSpPr>
      <dsp:spPr>
        <a:xfrm>
          <a:off x="4337156" y="2647688"/>
          <a:ext cx="1082781" cy="1082781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49D4D5-0AD5-4F9F-9602-BFEEBCBB510A}">
      <dsp:nvSpPr>
        <dsp:cNvPr id="0" name=""/>
        <dsp:cNvSpPr/>
      </dsp:nvSpPr>
      <dsp:spPr>
        <a:xfrm>
          <a:off x="4564540" y="2875072"/>
          <a:ext cx="628012" cy="62801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7EE4C9-9FDE-41B5-BAC2-D461FDC87F5A}">
      <dsp:nvSpPr>
        <dsp:cNvPr id="0" name=""/>
        <dsp:cNvSpPr/>
      </dsp:nvSpPr>
      <dsp:spPr>
        <a:xfrm>
          <a:off x="5651962" y="2647688"/>
          <a:ext cx="2552269" cy="10827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Works well with structured socioeconomic survey data.</a:t>
          </a:r>
        </a:p>
      </dsp:txBody>
      <dsp:txXfrm>
        <a:off x="5651962" y="2647688"/>
        <a:ext cx="2552269" cy="1082781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30A685A-E276-4AF8-B968-A3359A61326E}">
      <dsp:nvSpPr>
        <dsp:cNvPr id="0" name=""/>
        <dsp:cNvSpPr/>
      </dsp:nvSpPr>
      <dsp:spPr>
        <a:xfrm>
          <a:off x="0" y="478"/>
          <a:ext cx="3993357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3E5649-E5E3-450B-BAD8-596CE9CC8E7F}">
      <dsp:nvSpPr>
        <dsp:cNvPr id="0" name=""/>
        <dsp:cNvSpPr/>
      </dsp:nvSpPr>
      <dsp:spPr>
        <a:xfrm>
          <a:off x="0" y="478"/>
          <a:ext cx="3993357" cy="7837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Final Gradient Boosting model deployed using Flask</a:t>
          </a:r>
        </a:p>
      </dsp:txBody>
      <dsp:txXfrm>
        <a:off x="0" y="478"/>
        <a:ext cx="3993357" cy="783716"/>
      </dsp:txXfrm>
    </dsp:sp>
    <dsp:sp modelId="{184213C8-E734-42F6-BEFA-93DB9D8C3DDC}">
      <dsp:nvSpPr>
        <dsp:cNvPr id="0" name=""/>
        <dsp:cNvSpPr/>
      </dsp:nvSpPr>
      <dsp:spPr>
        <a:xfrm>
          <a:off x="0" y="784194"/>
          <a:ext cx="3993357" cy="0"/>
        </a:xfrm>
        <a:prstGeom prst="line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accent2">
              <a:hueOff val="1170380"/>
              <a:satOff val="-1460"/>
              <a:lumOff val="34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DEA52A-928C-4BBD-8551-E2CCC6F267B1}">
      <dsp:nvSpPr>
        <dsp:cNvPr id="0" name=""/>
        <dsp:cNvSpPr/>
      </dsp:nvSpPr>
      <dsp:spPr>
        <a:xfrm>
          <a:off x="0" y="784194"/>
          <a:ext cx="3993357" cy="7837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Saved model, preprocessing pipeline and metadata for reproducibility</a:t>
          </a:r>
        </a:p>
      </dsp:txBody>
      <dsp:txXfrm>
        <a:off x="0" y="784194"/>
        <a:ext cx="3993357" cy="783716"/>
      </dsp:txXfrm>
    </dsp:sp>
    <dsp:sp modelId="{6B2400F1-BF25-4C3C-97A6-8E628F39AF9B}">
      <dsp:nvSpPr>
        <dsp:cNvPr id="0" name=""/>
        <dsp:cNvSpPr/>
      </dsp:nvSpPr>
      <dsp:spPr>
        <a:xfrm>
          <a:off x="0" y="1567910"/>
          <a:ext cx="3993357" cy="0"/>
        </a:xfrm>
        <a:prstGeom prst="line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accent2">
              <a:hueOff val="2340759"/>
              <a:satOff val="-2919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F75159-CD4A-40CC-9901-FD4516398AC9}">
      <dsp:nvSpPr>
        <dsp:cNvPr id="0" name=""/>
        <dsp:cNvSpPr/>
      </dsp:nvSpPr>
      <dsp:spPr>
        <a:xfrm>
          <a:off x="0" y="1567910"/>
          <a:ext cx="3993357" cy="7837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Enables non-technical users to generate predictions</a:t>
          </a:r>
        </a:p>
      </dsp:txBody>
      <dsp:txXfrm>
        <a:off x="0" y="1567910"/>
        <a:ext cx="3993357" cy="783716"/>
      </dsp:txXfrm>
    </dsp:sp>
    <dsp:sp modelId="{CDF6249A-B1C7-4144-AB2E-9299A6572B74}">
      <dsp:nvSpPr>
        <dsp:cNvPr id="0" name=""/>
        <dsp:cNvSpPr/>
      </dsp:nvSpPr>
      <dsp:spPr>
        <a:xfrm>
          <a:off x="0" y="2351627"/>
          <a:ext cx="3993357" cy="0"/>
        </a:xfrm>
        <a:prstGeom prst="line">
          <a:avLst/>
        </a:prstGeom>
        <a:solidFill>
          <a:schemeClr val="accent2">
            <a:hueOff val="3511139"/>
            <a:satOff val="-4379"/>
            <a:lumOff val="1030"/>
            <a:alphaOff val="0"/>
          </a:schemeClr>
        </a:solidFill>
        <a:ln w="25400" cap="flat" cmpd="sng" algn="ctr">
          <a:solidFill>
            <a:schemeClr val="accent2">
              <a:hueOff val="3511139"/>
              <a:satOff val="-4379"/>
              <a:lumOff val="103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92A462B-69C0-4571-A97F-BDA952E2C60B}">
      <dsp:nvSpPr>
        <dsp:cNvPr id="0" name=""/>
        <dsp:cNvSpPr/>
      </dsp:nvSpPr>
      <dsp:spPr>
        <a:xfrm>
          <a:off x="0" y="2351627"/>
          <a:ext cx="3993357" cy="7837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Demonstrates an end-to-end machine learning workflow</a:t>
          </a:r>
        </a:p>
      </dsp:txBody>
      <dsp:txXfrm>
        <a:off x="0" y="2351627"/>
        <a:ext cx="3993357" cy="783716"/>
      </dsp:txXfrm>
    </dsp:sp>
    <dsp:sp modelId="{8C0FE801-E61F-4393-B185-57AF83F023C5}">
      <dsp:nvSpPr>
        <dsp:cNvPr id="0" name=""/>
        <dsp:cNvSpPr/>
      </dsp:nvSpPr>
      <dsp:spPr>
        <a:xfrm>
          <a:off x="0" y="3135343"/>
          <a:ext cx="3993357" cy="0"/>
        </a:xfrm>
        <a:prstGeom prst="line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accent2">
              <a:hueOff val="4681519"/>
              <a:satOff val="-5839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BAA08C-7034-47F8-A3C1-069084F6C1CC}">
      <dsp:nvSpPr>
        <dsp:cNvPr id="0" name=""/>
        <dsp:cNvSpPr/>
      </dsp:nvSpPr>
      <dsp:spPr>
        <a:xfrm>
          <a:off x="0" y="3135343"/>
          <a:ext cx="3993357" cy="7837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Goal: Convert a trained model into a practical decision-support application.</a:t>
          </a:r>
        </a:p>
      </dsp:txBody>
      <dsp:txXfrm>
        <a:off x="0" y="3135343"/>
        <a:ext cx="3993357" cy="78371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AlternatingHexagons">
  <dgm:title val=""/>
  <dgm:desc val=""/>
  <dgm:catLst>
    <dgm:cat type="list" pri="1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Name0">
    <dgm:varLst>
      <dgm:chMax/>
      <dgm:chPref/>
      <dgm:dir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primFontSz" for="des" forName="Parent1" val="65"/>
      <dgm:constr type="primFontSz" for="des" forName="Childtext1" refType="primFontSz" refFor="des" refForName="Parent1" op="lte"/>
      <dgm:constr type="w" for="ch" forName="composite" refType="w"/>
      <dgm:constr type="h" for="ch" forName="composite" refType="h"/>
      <dgm:constr type="h" for="ch" forName="spaceBetweenRectangles" refType="w" refFor="ch" refForName="composite" fact="-0.042"/>
      <dgm:constr type="sp" refType="h" refFor="ch" refForName="composite" op="equ" fact="0.1"/>
    </dgm:constrLst>
    <dgm:forEach name="nodesForEach" axis="ch" ptType="node">
      <dgm:layoutNode name="composite">
        <dgm:alg type="composite">
          <dgm:param type="ar" val="3.6"/>
        </dgm:alg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hoose name="Name3">
              <dgm:if name="Name4" axis="self" ptType="node" func="posOdd" op="equ" val="1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/>
                  <dgm:constr type="h" for="ch" forName="BalanceSpacing" refType="h" fact="0.1"/>
                  <dgm:constr type="l" for="ch" forName="BalanceSpacing1" refType="w" fact="0.69"/>
                  <dgm:constr type="t" for="ch" forName="BalanceSpacing1" refType="h" fact="0.2"/>
                  <dgm:constr type="w" for="ch" forName="BalanceSpacing1" refType="w" fact="0.31"/>
                  <dgm:constr type="h" for="ch" forName="BalanceSpacing1" refType="h" fact="0.6"/>
                </dgm:constrLst>
              </dgm:if>
              <dgm:else name="Name5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  <dgm:constr type="l" for="ch" forName="BalanceSpacing1" refType="w" fact="0"/>
                  <dgm:constr type="t" for="ch" forName="BalanceSpacing1" refType="h" fact="0.2"/>
                  <dgm:constr type="w" for="ch" forName="BalanceSpacing1" refType="w" fact="0.3"/>
                  <dgm:constr type="h" for="ch" forName="BalanceSpacing1" refType="h" fact="0.6"/>
                </dgm:constrLst>
              </dgm:else>
            </dgm:choose>
          </dgm:if>
          <dgm:else name="Name6">
            <dgm:choose name="Name7">
              <dgm:if name="Name8" axis="self" ptType="node" func="posOdd" op="equ" val="1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if>
              <dgm:else name="Name9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else>
            </dgm:choose>
          </dgm:else>
        </dgm:choose>
        <dgm:layoutNode name="Parent1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rot="90" type="hexagon" r:blip="">
            <dgm:adjLst>
              <dgm:adj idx="1" val="0.25"/>
              <dgm:adj idx="2" val="1.154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hildtext1" styleLbl="revTx">
          <dgm:varLst>
            <dgm:chMax val="0"/>
            <dgm:chPref val="0"/>
            <dgm:bulletEnabled val="1"/>
          </dgm:varLst>
          <dgm:choose name="Name10">
            <dgm:if name="Name11" func="var" arg="dir" op="equ" val="norm">
              <dgm:choose name="Name12">
                <dgm:if name="Name13" axis="self" ptType="node" func="posOdd" op="equ" val="1">
                  <dgm:alg type="tx">
                    <dgm:param type="parTxLTRAlign" val="l"/>
                  </dgm:alg>
                </dgm:if>
                <dgm:else name="Name14">
                  <dgm:alg type="tx">
                    <dgm:param type="parTxLTRAlign" val="r"/>
                  </dgm:alg>
                </dgm:else>
              </dgm:choose>
            </dgm:if>
            <dgm:else name="Name15">
              <dgm:choose name="Name16">
                <dgm:if name="Name17" axis="self" ptType="node" func="posOdd" op="equ" val="1">
                  <dgm:alg type="tx">
                    <dgm:param type="parTxLTRAlign" val="r"/>
                  </dgm:alg>
                </dgm:if>
                <dgm:else name="Name18">
                  <dgm:alg type="tx">
                    <dgm:param type="parTxLTRAlign" val="l"/>
                  </dgm:alg>
                </dgm:else>
              </dgm:choose>
            </dgm:else>
          </dgm:choose>
          <dgm:shape xmlns:r="http://schemas.openxmlformats.org/officeDocument/2006/relationships" type="rect" r:blip="">
            <dgm:adjLst/>
          </dgm:shape>
          <dgm:presOf axis="des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BalanceSpacing">
          <dgm:alg type="sp"/>
          <dgm:shape xmlns:r="http://schemas.openxmlformats.org/officeDocument/2006/relationships" r:blip="">
            <dgm:adjLst/>
          </dgm:shape>
        </dgm:layoutNode>
        <dgm:layoutNode name="BalanceSpacing1">
          <dgm:alg type="sp"/>
          <dgm:shape xmlns:r="http://schemas.openxmlformats.org/officeDocument/2006/relationships" r:blip="">
            <dgm:adjLst/>
          </dgm:shape>
        </dgm:layoutNode>
        <dgm:forEach name="Name19" axis="followSib" ptType="sibTrans" hideLastTrans="0" cnt="1">
          <dgm:layoutNode name="Accent1Text" styleLbl="node1">
            <dgm:alg type="tx"/>
            <dgm:shape xmlns:r="http://schemas.openxmlformats.org/officeDocument/2006/relationships" rot="90" type="hexagon" r:blip="">
              <dgm:adjLst>
                <dgm:adj idx="1" val="0.25"/>
                <dgm:adj idx="2" val="1.1547"/>
              </dgm:adjLst>
            </dgm:shape>
            <dgm:presOf axis="self" ptType="sibTrans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forEach>
      </dgm:layoutNode>
      <dgm:forEach name="Name2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6F828D28-8E09-41CC-8229-3070B5467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 descr="Codes on papers">
            <a:extLst>
              <a:ext uri="{FF2B5EF4-FFF2-40B4-BE49-F238E27FC236}">
                <a16:creationId xmlns:a16="http://schemas.microsoft.com/office/drawing/2014/main" id="{AB6B5651-5EB3-D5CB-4DC2-DECD2BFE79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74" r="4524" b="-2"/>
          <a:stretch>
            <a:fillRect/>
          </a:stretch>
        </p:blipFill>
        <p:spPr>
          <a:xfrm>
            <a:off x="20" y="-22"/>
            <a:ext cx="9143977" cy="685802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5B012D8-7F27-4758-9AC6-C889B154B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684783" y="1682484"/>
            <a:ext cx="6858003" cy="3493010"/>
          </a:xfrm>
          <a:prstGeom prst="rect">
            <a:avLst/>
          </a:prstGeom>
          <a:gradFill flip="none" rotWithShape="1">
            <a:gsLst>
              <a:gs pos="48000">
                <a:srgbClr val="000000">
                  <a:alpha val="24000"/>
                </a:srgbClr>
              </a:gs>
              <a:gs pos="85000">
                <a:srgbClr val="000000">
                  <a:alpha val="45000"/>
                </a:srgbClr>
              </a:gs>
              <a:gs pos="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0348" y="0"/>
            <a:ext cx="4089397" cy="3569242"/>
          </a:xfrm>
        </p:spPr>
        <p:txBody>
          <a:bodyPr anchor="t">
            <a:normAutofit/>
          </a:bodyPr>
          <a:lstStyle/>
          <a:p>
            <a:pPr algn="l"/>
            <a:r>
              <a:rPr lang="en-US" sz="4500" dirty="0"/>
              <a:t>Kenya Financial Inclusion Risk Prediction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063B759-00FC-46D1-9898-8E8625268F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797890" y="2511887"/>
            <a:ext cx="6858003" cy="1834218"/>
          </a:xfrm>
          <a:prstGeom prst="rect">
            <a:avLst/>
          </a:prstGeom>
          <a:gradFill flip="none" rotWithShape="1">
            <a:gsLst>
              <a:gs pos="48000">
                <a:srgbClr val="000000">
                  <a:alpha val="24000"/>
                </a:srgbClr>
              </a:gs>
              <a:gs pos="85000">
                <a:srgbClr val="000000">
                  <a:alpha val="45000"/>
                </a:srgbClr>
              </a:gs>
              <a:gs pos="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F3DE58F-69F4-EEA7-EED4-1B38A220A72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25000"/>
          </a:blip>
          <a:srcRect t="8883" b="4160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t>Project Objective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E584D31-7580-846A-BF2F-464B2DFF16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38888448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en-US" sz="3500">
                <a:solidFill>
                  <a:srgbClr val="FFFFFF"/>
                </a:solidFill>
              </a:rPr>
              <a:t>Business Problem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9763EF7-36B1-EF9A-A8EB-EC9F4533345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40103320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85F55C16-BC21-49EF-A4FF-C3155BB93B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6300" y="365125"/>
            <a:ext cx="3829048" cy="1952744"/>
          </a:xfrm>
        </p:spPr>
        <p:txBody>
          <a:bodyPr>
            <a:normAutofit/>
          </a:bodyPr>
          <a:lstStyle/>
          <a:p>
            <a:r>
              <a:rPr lang="en-US"/>
              <a:t>Dataset Overview</a:t>
            </a: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C5F069E-AFE6-4825-8945-46F2918A50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4587427" cy="6858000"/>
          </a:xfrm>
          <a:custGeom>
            <a:avLst/>
            <a:gdLst>
              <a:gd name="connsiteX0" fmla="*/ 0 w 6116569"/>
              <a:gd name="connsiteY0" fmla="*/ 0 h 6879321"/>
              <a:gd name="connsiteX1" fmla="*/ 2935851 w 6116569"/>
              <a:gd name="connsiteY1" fmla="*/ 0 h 6879321"/>
              <a:gd name="connsiteX2" fmla="*/ 3238280 w 6116569"/>
              <a:gd name="connsiteY2" fmla="*/ 31980 h 6879321"/>
              <a:gd name="connsiteX3" fmla="*/ 3660541 w 6116569"/>
              <a:gd name="connsiteY3" fmla="*/ 550772 h 6879321"/>
              <a:gd name="connsiteX4" fmla="*/ 3808902 w 6116569"/>
              <a:gd name="connsiteY4" fmla="*/ 589860 h 6879321"/>
              <a:gd name="connsiteX5" fmla="*/ 4413762 w 6116569"/>
              <a:gd name="connsiteY5" fmla="*/ 625393 h 6879321"/>
              <a:gd name="connsiteX6" fmla="*/ 4567830 w 6116569"/>
              <a:gd name="connsiteY6" fmla="*/ 721333 h 6879321"/>
              <a:gd name="connsiteX7" fmla="*/ 4171247 w 6116569"/>
              <a:gd name="connsiteY7" fmla="*/ 792401 h 6879321"/>
              <a:gd name="connsiteX8" fmla="*/ 4376671 w 6116569"/>
              <a:gd name="connsiteY8" fmla="*/ 842148 h 6879321"/>
              <a:gd name="connsiteX9" fmla="*/ 4527887 w 6116569"/>
              <a:gd name="connsiteY9" fmla="*/ 813722 h 6879321"/>
              <a:gd name="connsiteX10" fmla="*/ 4633452 w 6116569"/>
              <a:gd name="connsiteY10" fmla="*/ 799508 h 6879321"/>
              <a:gd name="connsiteX11" fmla="*/ 4947293 w 6116569"/>
              <a:gd name="connsiteY11" fmla="*/ 870576 h 6879321"/>
              <a:gd name="connsiteX12" fmla="*/ 5263988 w 6116569"/>
              <a:gd name="connsiteY12" fmla="*/ 820828 h 6879321"/>
              <a:gd name="connsiteX13" fmla="*/ 5249723 w 6116569"/>
              <a:gd name="connsiteY13" fmla="*/ 895449 h 6879321"/>
              <a:gd name="connsiteX14" fmla="*/ 4744723 w 6116569"/>
              <a:gd name="connsiteY14" fmla="*/ 1197485 h 6879321"/>
              <a:gd name="connsiteX15" fmla="*/ 4767548 w 6116569"/>
              <a:gd name="connsiteY15" fmla="*/ 1346727 h 6879321"/>
              <a:gd name="connsiteX16" fmla="*/ 4539299 w 6116569"/>
              <a:gd name="connsiteY16" fmla="*/ 1421348 h 6879321"/>
              <a:gd name="connsiteX17" fmla="*/ 4607773 w 6116569"/>
              <a:gd name="connsiteY17" fmla="*/ 1485309 h 6879321"/>
              <a:gd name="connsiteX18" fmla="*/ 4579242 w 6116569"/>
              <a:gd name="connsiteY18" fmla="*/ 1535055 h 6879321"/>
              <a:gd name="connsiteX19" fmla="*/ 5278255 w 6116569"/>
              <a:gd name="connsiteY19" fmla="*/ 1609676 h 6879321"/>
              <a:gd name="connsiteX20" fmla="*/ 5771843 w 6116569"/>
              <a:gd name="connsiteY20" fmla="*/ 1630997 h 6879321"/>
              <a:gd name="connsiteX21" fmla="*/ 6105656 w 6116569"/>
              <a:gd name="connsiteY21" fmla="*/ 1748257 h 6879321"/>
              <a:gd name="connsiteX22" fmla="*/ 5691955 w 6116569"/>
              <a:gd name="connsiteY22" fmla="*/ 2167555 h 6879321"/>
              <a:gd name="connsiteX23" fmla="*/ 5475118 w 6116569"/>
              <a:gd name="connsiteY23" fmla="*/ 2348776 h 6879321"/>
              <a:gd name="connsiteX24" fmla="*/ 5826051 w 6116569"/>
              <a:gd name="connsiteY24" fmla="*/ 2291922 h 6879321"/>
              <a:gd name="connsiteX25" fmla="*/ 5552153 w 6116569"/>
              <a:gd name="connsiteY25" fmla="*/ 2597513 h 6879321"/>
              <a:gd name="connsiteX26" fmla="*/ 5603508 w 6116569"/>
              <a:gd name="connsiteY26" fmla="*/ 2647260 h 6879321"/>
              <a:gd name="connsiteX27" fmla="*/ 5700515 w 6116569"/>
              <a:gd name="connsiteY27" fmla="*/ 2679240 h 6879321"/>
              <a:gd name="connsiteX28" fmla="*/ 5246870 w 6116569"/>
              <a:gd name="connsiteY28" fmla="*/ 2888889 h 6879321"/>
              <a:gd name="connsiteX29" fmla="*/ 4836022 w 6116569"/>
              <a:gd name="connsiteY29" fmla="*/ 3169605 h 6879321"/>
              <a:gd name="connsiteX30" fmla="*/ 4736163 w 6116569"/>
              <a:gd name="connsiteY30" fmla="*/ 3233565 h 6879321"/>
              <a:gd name="connsiteX31" fmla="*/ 4853141 w 6116569"/>
              <a:gd name="connsiteY31" fmla="*/ 3233565 h 6879321"/>
              <a:gd name="connsiteX32" fmla="*/ 4944440 w 6116569"/>
              <a:gd name="connsiteY32" fmla="*/ 3226459 h 6879321"/>
              <a:gd name="connsiteX33" fmla="*/ 5109921 w 6116569"/>
              <a:gd name="connsiteY33" fmla="*/ 3283313 h 6879321"/>
              <a:gd name="connsiteX34" fmla="*/ 5694809 w 6116569"/>
              <a:gd name="connsiteY34" fmla="*/ 3141178 h 6879321"/>
              <a:gd name="connsiteX35" fmla="*/ 5566419 w 6116569"/>
              <a:gd name="connsiteY35" fmla="*/ 3301079 h 6879321"/>
              <a:gd name="connsiteX36" fmla="*/ 5415203 w 6116569"/>
              <a:gd name="connsiteY36" fmla="*/ 3397020 h 6879321"/>
              <a:gd name="connsiteX37" fmla="*/ 5612068 w 6116569"/>
              <a:gd name="connsiteY37" fmla="*/ 3432554 h 6879321"/>
              <a:gd name="connsiteX38" fmla="*/ 5206927 w 6116569"/>
              <a:gd name="connsiteY38" fmla="*/ 3599562 h 6879321"/>
              <a:gd name="connsiteX39" fmla="*/ 5301079 w 6116569"/>
              <a:gd name="connsiteY39" fmla="*/ 3723930 h 6879321"/>
              <a:gd name="connsiteX40" fmla="*/ 4507915 w 6116569"/>
              <a:gd name="connsiteY40" fmla="*/ 4306683 h 6879321"/>
              <a:gd name="connsiteX41" fmla="*/ 3982942 w 6116569"/>
              <a:gd name="connsiteY41" fmla="*/ 4587399 h 6879321"/>
              <a:gd name="connsiteX42" fmla="*/ 4185513 w 6116569"/>
              <a:gd name="connsiteY42" fmla="*/ 4541205 h 6879321"/>
              <a:gd name="connsiteX43" fmla="*/ 5212633 w 6116569"/>
              <a:gd name="connsiteY43" fmla="*/ 4455924 h 6879321"/>
              <a:gd name="connsiteX44" fmla="*/ 5312492 w 6116569"/>
              <a:gd name="connsiteY44" fmla="*/ 4473691 h 6879321"/>
              <a:gd name="connsiteX45" fmla="*/ 4596361 w 6116569"/>
              <a:gd name="connsiteY45" fmla="*/ 4818368 h 6879321"/>
              <a:gd name="connsiteX46" fmla="*/ 4873113 w 6116569"/>
              <a:gd name="connsiteY46" fmla="*/ 4885882 h 6879321"/>
              <a:gd name="connsiteX47" fmla="*/ 4935881 w 6116569"/>
              <a:gd name="connsiteY47" fmla="*/ 4914309 h 6879321"/>
              <a:gd name="connsiteX48" fmla="*/ 4873113 w 6116569"/>
              <a:gd name="connsiteY48" fmla="*/ 5003143 h 6879321"/>
              <a:gd name="connsiteX49" fmla="*/ 4721898 w 6116569"/>
              <a:gd name="connsiteY49" fmla="*/ 5095530 h 6879321"/>
              <a:gd name="connsiteX50" fmla="*/ 5132745 w 6116569"/>
              <a:gd name="connsiteY50" fmla="*/ 4949842 h 6879321"/>
              <a:gd name="connsiteX51" fmla="*/ 5101362 w 6116569"/>
              <a:gd name="connsiteY51" fmla="*/ 5081317 h 6879321"/>
              <a:gd name="connsiteX52" fmla="*/ 5138452 w 6116569"/>
              <a:gd name="connsiteY52" fmla="*/ 5198578 h 6879321"/>
              <a:gd name="connsiteX53" fmla="*/ 4904497 w 6116569"/>
              <a:gd name="connsiteY53" fmla="*/ 5362033 h 6879321"/>
              <a:gd name="connsiteX54" fmla="*/ 4579242 w 6116569"/>
              <a:gd name="connsiteY54" fmla="*/ 5674729 h 6879321"/>
              <a:gd name="connsiteX55" fmla="*/ 4253988 w 6116569"/>
              <a:gd name="connsiteY55" fmla="*/ 5884379 h 6879321"/>
              <a:gd name="connsiteX56" fmla="*/ 3985795 w 6116569"/>
              <a:gd name="connsiteY56" fmla="*/ 6069153 h 6879321"/>
              <a:gd name="connsiteX57" fmla="*/ 4231163 w 6116569"/>
              <a:gd name="connsiteY57" fmla="*/ 6030066 h 6879321"/>
              <a:gd name="connsiteX58" fmla="*/ 3814609 w 6116569"/>
              <a:gd name="connsiteY58" fmla="*/ 6317889 h 6879321"/>
              <a:gd name="connsiteX59" fmla="*/ 3751840 w 6116569"/>
              <a:gd name="connsiteY59" fmla="*/ 6339209 h 6879321"/>
              <a:gd name="connsiteX60" fmla="*/ 3089919 w 6116569"/>
              <a:gd name="connsiteY60" fmla="*/ 6563071 h 6879321"/>
              <a:gd name="connsiteX61" fmla="*/ 2961529 w 6116569"/>
              <a:gd name="connsiteY61" fmla="*/ 6662566 h 6879321"/>
              <a:gd name="connsiteX62" fmla="*/ 3107038 w 6116569"/>
              <a:gd name="connsiteY62" fmla="*/ 6673226 h 6879321"/>
              <a:gd name="connsiteX63" fmla="*/ 3594919 w 6116569"/>
              <a:gd name="connsiteY63" fmla="*/ 6591499 h 6879321"/>
              <a:gd name="connsiteX64" fmla="*/ 3261106 w 6116569"/>
              <a:gd name="connsiteY64" fmla="*/ 6726527 h 6879321"/>
              <a:gd name="connsiteX65" fmla="*/ 3620597 w 6116569"/>
              <a:gd name="connsiteY65" fmla="*/ 6740740 h 6879321"/>
              <a:gd name="connsiteX66" fmla="*/ 3703337 w 6116569"/>
              <a:gd name="connsiteY66" fmla="*/ 6826020 h 6879321"/>
              <a:gd name="connsiteX67" fmla="*/ 3689072 w 6116569"/>
              <a:gd name="connsiteY67" fmla="*/ 6879321 h 6879321"/>
              <a:gd name="connsiteX68" fmla="*/ 0 w 6116569"/>
              <a:gd name="connsiteY68" fmla="*/ 6879321 h 6879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</a:cxnLst>
            <a:rect l="l" t="t" r="r" b="b"/>
            <a:pathLst>
              <a:path w="6116569" h="6879321">
                <a:moveTo>
                  <a:pt x="0" y="0"/>
                </a:moveTo>
                <a:lnTo>
                  <a:pt x="2935851" y="0"/>
                </a:lnTo>
                <a:cubicBezTo>
                  <a:pt x="3035710" y="10660"/>
                  <a:pt x="3138421" y="17767"/>
                  <a:pt x="3238280" y="31980"/>
                </a:cubicBezTo>
                <a:cubicBezTo>
                  <a:pt x="3817462" y="106602"/>
                  <a:pt x="3127009" y="277163"/>
                  <a:pt x="3660541" y="550772"/>
                </a:cubicBezTo>
                <a:cubicBezTo>
                  <a:pt x="3706191" y="575645"/>
                  <a:pt x="3757546" y="579199"/>
                  <a:pt x="3808902" y="589860"/>
                </a:cubicBezTo>
                <a:cubicBezTo>
                  <a:pt x="4008620" y="625393"/>
                  <a:pt x="4211192" y="618286"/>
                  <a:pt x="4413762" y="625393"/>
                </a:cubicBezTo>
                <a:cubicBezTo>
                  <a:pt x="4465118" y="628946"/>
                  <a:pt x="4525033" y="625393"/>
                  <a:pt x="4567830" y="721333"/>
                </a:cubicBezTo>
                <a:cubicBezTo>
                  <a:pt x="4425175" y="724888"/>
                  <a:pt x="4305344" y="731994"/>
                  <a:pt x="4171247" y="792401"/>
                </a:cubicBezTo>
                <a:cubicBezTo>
                  <a:pt x="4239722" y="859916"/>
                  <a:pt x="4322462" y="795955"/>
                  <a:pt x="4376671" y="842148"/>
                </a:cubicBezTo>
                <a:cubicBezTo>
                  <a:pt x="4428027" y="888342"/>
                  <a:pt x="4470824" y="891896"/>
                  <a:pt x="4527887" y="813722"/>
                </a:cubicBezTo>
                <a:cubicBezTo>
                  <a:pt x="4556417" y="774634"/>
                  <a:pt x="4604920" y="778187"/>
                  <a:pt x="4633452" y="799508"/>
                </a:cubicBezTo>
                <a:cubicBezTo>
                  <a:pt x="4781813" y="913216"/>
                  <a:pt x="4778960" y="909662"/>
                  <a:pt x="4947293" y="870576"/>
                </a:cubicBezTo>
                <a:cubicBezTo>
                  <a:pt x="5055712" y="845701"/>
                  <a:pt x="5166983" y="806615"/>
                  <a:pt x="5263988" y="820828"/>
                </a:cubicBezTo>
                <a:cubicBezTo>
                  <a:pt x="5275401" y="867022"/>
                  <a:pt x="5263988" y="888342"/>
                  <a:pt x="5249723" y="895449"/>
                </a:cubicBezTo>
                <a:cubicBezTo>
                  <a:pt x="5021475" y="1005604"/>
                  <a:pt x="4975825" y="1122864"/>
                  <a:pt x="4744723" y="1197485"/>
                </a:cubicBezTo>
                <a:cubicBezTo>
                  <a:pt x="4724751" y="1268552"/>
                  <a:pt x="4807491" y="1275660"/>
                  <a:pt x="4767548" y="1346727"/>
                </a:cubicBezTo>
                <a:cubicBezTo>
                  <a:pt x="4693367" y="1407134"/>
                  <a:pt x="4610627" y="1346727"/>
                  <a:pt x="4539299" y="1421348"/>
                </a:cubicBezTo>
                <a:cubicBezTo>
                  <a:pt x="4550712" y="1471094"/>
                  <a:pt x="4610627" y="1432008"/>
                  <a:pt x="4607773" y="1485309"/>
                </a:cubicBezTo>
                <a:cubicBezTo>
                  <a:pt x="4604920" y="1517288"/>
                  <a:pt x="4593508" y="1527948"/>
                  <a:pt x="4579242" y="1535055"/>
                </a:cubicBezTo>
                <a:cubicBezTo>
                  <a:pt x="4776107" y="1538608"/>
                  <a:pt x="5383820" y="1574142"/>
                  <a:pt x="5278255" y="1609676"/>
                </a:cubicBezTo>
                <a:cubicBezTo>
                  <a:pt x="5418057" y="1698511"/>
                  <a:pt x="5623481" y="1609676"/>
                  <a:pt x="5771843" y="1630997"/>
                </a:cubicBezTo>
                <a:cubicBezTo>
                  <a:pt x="5925911" y="1652316"/>
                  <a:pt x="6171278" y="1719830"/>
                  <a:pt x="6105656" y="1748257"/>
                </a:cubicBezTo>
                <a:cubicBezTo>
                  <a:pt x="6031475" y="1780238"/>
                  <a:pt x="5766136" y="2146235"/>
                  <a:pt x="5691955" y="2167555"/>
                </a:cubicBezTo>
                <a:cubicBezTo>
                  <a:pt x="5606362" y="2188875"/>
                  <a:pt x="5589243" y="2217302"/>
                  <a:pt x="5475118" y="2348776"/>
                </a:cubicBezTo>
                <a:cubicBezTo>
                  <a:pt x="5398085" y="2437610"/>
                  <a:pt x="5709074" y="2238623"/>
                  <a:pt x="5826051" y="2291922"/>
                </a:cubicBezTo>
                <a:cubicBezTo>
                  <a:pt x="5868848" y="2309690"/>
                  <a:pt x="5552153" y="2554872"/>
                  <a:pt x="5552153" y="2597513"/>
                </a:cubicBezTo>
                <a:cubicBezTo>
                  <a:pt x="5549300" y="2640153"/>
                  <a:pt x="5577831" y="2647260"/>
                  <a:pt x="5603508" y="2647260"/>
                </a:cubicBezTo>
                <a:cubicBezTo>
                  <a:pt x="5660571" y="2647260"/>
                  <a:pt x="5640599" y="2686346"/>
                  <a:pt x="5700515" y="2679240"/>
                </a:cubicBezTo>
                <a:cubicBezTo>
                  <a:pt x="5523622" y="2800055"/>
                  <a:pt x="5418057" y="2778734"/>
                  <a:pt x="5246870" y="2888889"/>
                </a:cubicBezTo>
                <a:cubicBezTo>
                  <a:pt x="5164130" y="2942189"/>
                  <a:pt x="4921615" y="3119857"/>
                  <a:pt x="4836022" y="3169605"/>
                </a:cubicBezTo>
                <a:cubicBezTo>
                  <a:pt x="4801785" y="3187371"/>
                  <a:pt x="4758988" y="3173158"/>
                  <a:pt x="4736163" y="3233565"/>
                </a:cubicBezTo>
                <a:cubicBezTo>
                  <a:pt x="4770400" y="3279759"/>
                  <a:pt x="4816050" y="3254885"/>
                  <a:pt x="4853141" y="3233565"/>
                </a:cubicBezTo>
                <a:cubicBezTo>
                  <a:pt x="4944440" y="3176711"/>
                  <a:pt x="4935881" y="3190925"/>
                  <a:pt x="4944440" y="3226459"/>
                </a:cubicBezTo>
                <a:cubicBezTo>
                  <a:pt x="4972972" y="3350827"/>
                  <a:pt x="5044300" y="3308186"/>
                  <a:pt x="5109921" y="3283313"/>
                </a:cubicBezTo>
                <a:cubicBezTo>
                  <a:pt x="5303932" y="3208692"/>
                  <a:pt x="5500797" y="3215799"/>
                  <a:pt x="5694809" y="3141178"/>
                </a:cubicBezTo>
                <a:cubicBezTo>
                  <a:pt x="5714781" y="3134070"/>
                  <a:pt x="5612068" y="3283313"/>
                  <a:pt x="5566419" y="3301079"/>
                </a:cubicBezTo>
                <a:cubicBezTo>
                  <a:pt x="5515063" y="3322399"/>
                  <a:pt x="5452294" y="3311739"/>
                  <a:pt x="5415203" y="3397020"/>
                </a:cubicBezTo>
                <a:cubicBezTo>
                  <a:pt x="5477972" y="3414787"/>
                  <a:pt x="5552153" y="3372147"/>
                  <a:pt x="5612068" y="3432554"/>
                </a:cubicBezTo>
                <a:cubicBezTo>
                  <a:pt x="5469413" y="3528494"/>
                  <a:pt x="5329610" y="3535601"/>
                  <a:pt x="5206927" y="3599562"/>
                </a:cubicBezTo>
                <a:cubicBezTo>
                  <a:pt x="5192661" y="3706163"/>
                  <a:pt x="5272548" y="3663523"/>
                  <a:pt x="5301079" y="3723930"/>
                </a:cubicBezTo>
                <a:cubicBezTo>
                  <a:pt x="5072830" y="3844745"/>
                  <a:pt x="4564977" y="4232062"/>
                  <a:pt x="4507915" y="4306683"/>
                </a:cubicBezTo>
                <a:cubicBezTo>
                  <a:pt x="4390937" y="4463031"/>
                  <a:pt x="3900202" y="4562525"/>
                  <a:pt x="3982942" y="4587399"/>
                </a:cubicBezTo>
                <a:cubicBezTo>
                  <a:pt x="4051417" y="4608719"/>
                  <a:pt x="4119891" y="4587399"/>
                  <a:pt x="4185513" y="4541205"/>
                </a:cubicBezTo>
                <a:cubicBezTo>
                  <a:pt x="4291078" y="4466584"/>
                  <a:pt x="5010062" y="4523438"/>
                  <a:pt x="5212633" y="4455924"/>
                </a:cubicBezTo>
                <a:cubicBezTo>
                  <a:pt x="5241164" y="4445264"/>
                  <a:pt x="5283960" y="4409730"/>
                  <a:pt x="5312492" y="4473691"/>
                </a:cubicBezTo>
                <a:cubicBezTo>
                  <a:pt x="5098508" y="4704659"/>
                  <a:pt x="4833169" y="4654913"/>
                  <a:pt x="4596361" y="4818368"/>
                </a:cubicBezTo>
                <a:cubicBezTo>
                  <a:pt x="4684807" y="4917861"/>
                  <a:pt x="4776107" y="4907202"/>
                  <a:pt x="4873113" y="4885882"/>
                </a:cubicBezTo>
                <a:cubicBezTo>
                  <a:pt x="4895938" y="4878775"/>
                  <a:pt x="4930175" y="4871668"/>
                  <a:pt x="4935881" y="4914309"/>
                </a:cubicBezTo>
                <a:cubicBezTo>
                  <a:pt x="4941587" y="4967609"/>
                  <a:pt x="4898790" y="4978270"/>
                  <a:pt x="4873113" y="5003143"/>
                </a:cubicBezTo>
                <a:cubicBezTo>
                  <a:pt x="4833169" y="5038676"/>
                  <a:pt x="4773254" y="4999590"/>
                  <a:pt x="4721898" y="5095530"/>
                </a:cubicBezTo>
                <a:cubicBezTo>
                  <a:pt x="4873113" y="5067104"/>
                  <a:pt x="4998650" y="5020910"/>
                  <a:pt x="5132745" y="4949842"/>
                </a:cubicBezTo>
                <a:cubicBezTo>
                  <a:pt x="5121333" y="5006696"/>
                  <a:pt x="5081390" y="5035123"/>
                  <a:pt x="5101362" y="5081317"/>
                </a:cubicBezTo>
                <a:cubicBezTo>
                  <a:pt x="5118480" y="5116850"/>
                  <a:pt x="5164130" y="5131063"/>
                  <a:pt x="5138452" y="5198578"/>
                </a:cubicBezTo>
                <a:cubicBezTo>
                  <a:pt x="5067125" y="5273199"/>
                  <a:pt x="4967265" y="5258986"/>
                  <a:pt x="4904497" y="5362033"/>
                </a:cubicBezTo>
                <a:cubicBezTo>
                  <a:pt x="4818903" y="5507721"/>
                  <a:pt x="4684807" y="5564575"/>
                  <a:pt x="4579242" y="5674729"/>
                </a:cubicBezTo>
                <a:cubicBezTo>
                  <a:pt x="4545005" y="5713816"/>
                  <a:pt x="4313903" y="5841738"/>
                  <a:pt x="4253988" y="5884379"/>
                </a:cubicBezTo>
                <a:cubicBezTo>
                  <a:pt x="4168395" y="5944786"/>
                  <a:pt x="4071389" y="5966106"/>
                  <a:pt x="3985795" y="6069153"/>
                </a:cubicBezTo>
                <a:cubicBezTo>
                  <a:pt x="4065682" y="6086921"/>
                  <a:pt x="4134157" y="5990979"/>
                  <a:pt x="4231163" y="6030066"/>
                </a:cubicBezTo>
                <a:cubicBezTo>
                  <a:pt x="4074242" y="6133114"/>
                  <a:pt x="3931586" y="6182861"/>
                  <a:pt x="3814609" y="6317889"/>
                </a:cubicBezTo>
                <a:cubicBezTo>
                  <a:pt x="3800343" y="6335656"/>
                  <a:pt x="3771812" y="6332102"/>
                  <a:pt x="3751840" y="6339209"/>
                </a:cubicBezTo>
                <a:cubicBezTo>
                  <a:pt x="3529298" y="6406723"/>
                  <a:pt x="3309608" y="6467130"/>
                  <a:pt x="3089919" y="6563071"/>
                </a:cubicBezTo>
                <a:cubicBezTo>
                  <a:pt x="3041416" y="6584392"/>
                  <a:pt x="2955823" y="6595052"/>
                  <a:pt x="2961529" y="6662566"/>
                </a:cubicBezTo>
                <a:cubicBezTo>
                  <a:pt x="2972941" y="6765613"/>
                  <a:pt x="3055681" y="6687439"/>
                  <a:pt x="3107038" y="6673226"/>
                </a:cubicBezTo>
                <a:cubicBezTo>
                  <a:pt x="3269664" y="6634138"/>
                  <a:pt x="3432292" y="6570178"/>
                  <a:pt x="3594919" y="6591499"/>
                </a:cubicBezTo>
                <a:cubicBezTo>
                  <a:pt x="3483648" y="6637693"/>
                  <a:pt x="3372376" y="6680332"/>
                  <a:pt x="3261106" y="6726527"/>
                </a:cubicBezTo>
                <a:cubicBezTo>
                  <a:pt x="3386642" y="6705206"/>
                  <a:pt x="3495061" y="6786934"/>
                  <a:pt x="3620597" y="6740740"/>
                </a:cubicBezTo>
                <a:cubicBezTo>
                  <a:pt x="3660541" y="6726527"/>
                  <a:pt x="3700484" y="6765613"/>
                  <a:pt x="3703337" y="6826020"/>
                </a:cubicBezTo>
                <a:cubicBezTo>
                  <a:pt x="3706191" y="6847340"/>
                  <a:pt x="3700484" y="6865108"/>
                  <a:pt x="3689072" y="6879321"/>
                </a:cubicBezTo>
                <a:lnTo>
                  <a:pt x="0" y="6879321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CDF1F6C5-FD90-5439-7950-60AAC7622A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0850" y="2317508"/>
            <a:ext cx="2396403" cy="2396403"/>
          </a:xfrm>
          <a:prstGeom prst="rect">
            <a:avLst/>
          </a:prstGeom>
        </p:spPr>
      </p:pic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4686300" y="2497257"/>
            <a:ext cx="3829048" cy="3679705"/>
          </a:xfrm>
        </p:spPr>
        <p:txBody>
          <a:bodyPr>
            <a:normAutofit/>
          </a:bodyPr>
          <a:lstStyle/>
          <a:p>
            <a:r>
              <a:rPr lang="en-US" sz="1700" dirty="0"/>
              <a:t>Source: Kenya FinAccess 2021 Survey.</a:t>
            </a:r>
          </a:p>
          <a:p>
            <a:r>
              <a:rPr lang="en-US" sz="1700" dirty="0"/>
              <a:t>Contains demographic, socioeconomic and behavioral indicators.</a:t>
            </a:r>
          </a:p>
          <a:p>
            <a:r>
              <a:rPr lang="en-US" sz="1700" dirty="0"/>
              <a:t>Features include education, age, location, employment and financial behavior.</a:t>
            </a:r>
          </a:p>
          <a:p>
            <a:r>
              <a:rPr lang="en-US" sz="1700" dirty="0"/>
              <a:t>Target variable: Financially Excluded vs Included.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Preparation Pipeline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21DC815-CFDA-9001-621D-04C85A3312D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1F6BF70-C7D1-4AF9-8DB4-BEEB8A9C35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3798" y="1097280"/>
            <a:ext cx="2847230" cy="4666207"/>
          </a:xfrm>
        </p:spPr>
        <p:txBody>
          <a:bodyPr anchor="ctr">
            <a:normAutofit/>
          </a:bodyPr>
          <a:lstStyle/>
          <a:p>
            <a:r>
              <a:rPr lang="en-US" sz="3600"/>
              <a:t>Why Preprocessing Matters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C66A8B6-1F6E-4FCC-93B9-B9986B6FD1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932" y="5945955"/>
            <a:ext cx="9082028" cy="525780"/>
            <a:chOff x="82576" y="5945955"/>
            <a:chExt cx="12109423" cy="52578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AF7C4FD-65AD-4BBE-886A-D2E923F94C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-103361" y="6131892"/>
              <a:ext cx="524256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BA8278B-6DF7-481F-B1FA-FFE7D6C3C7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 flipH="1">
              <a:off x="5998176" y="277912"/>
              <a:ext cx="524256" cy="1186339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50279" y="587829"/>
            <a:ext cx="4878975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67851E2-2B94-6362-E64F-EA34388618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9535592"/>
              </p:ext>
            </p:extLst>
          </p:nvPr>
        </p:nvGraphicFramePr>
        <p:xfrm>
          <a:off x="4073652" y="1014153"/>
          <a:ext cx="4438638" cy="49793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7FCFAB8-9E9C-414D-9FCB-CECED12D58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C16827-9A48-4468-BE81-11EC18E0A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4350" y="685799"/>
            <a:ext cx="4057650" cy="5486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4329" y="1335183"/>
            <a:ext cx="2637691" cy="4150899"/>
          </a:xfrm>
        </p:spPr>
        <p:txBody>
          <a:bodyPr>
            <a:normAutofit/>
          </a:bodyPr>
          <a:lstStyle/>
          <a:p>
            <a:r>
              <a:rPr lang="en-US" sz="2800">
                <a:solidFill>
                  <a:srgbClr val="595959"/>
                </a:solidFill>
              </a:rPr>
              <a:t>Models Evaluated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9956BA-5C38-49F9-88D6-BD6C71E9C7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0" y="685799"/>
            <a:ext cx="4057650" cy="5486401"/>
          </a:xfrm>
          <a:prstGeom prst="rect">
            <a:avLst/>
          </a:prstGeom>
          <a:solidFill>
            <a:schemeClr val="accent2">
              <a:lumMod val="20000"/>
              <a:lumOff val="80000"/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9500" y="1335183"/>
            <a:ext cx="3082649" cy="4187633"/>
          </a:xfrm>
        </p:spPr>
        <p:txBody>
          <a:bodyPr anchor="ctr">
            <a:normAutofit/>
          </a:bodyPr>
          <a:lstStyle/>
          <a:p>
            <a:r>
              <a:rPr lang="en-US" sz="1700">
                <a:solidFill>
                  <a:schemeClr val="tx1">
                    <a:lumMod val="65000"/>
                    <a:lumOff val="35000"/>
                  </a:schemeClr>
                </a:solidFill>
              </a:rPr>
              <a:t>Dummy Classifier: Baseline comparison model.</a:t>
            </a:r>
          </a:p>
          <a:p>
            <a:r>
              <a:rPr lang="en-US" sz="1700">
                <a:solidFill>
                  <a:schemeClr val="tx1">
                    <a:lumMod val="65000"/>
                    <a:lumOff val="35000"/>
                  </a:schemeClr>
                </a:solidFill>
              </a:rPr>
              <a:t>Logistic Regression: Simple and interpretable classifier.</a:t>
            </a:r>
          </a:p>
          <a:p>
            <a:r>
              <a:rPr lang="en-US" sz="1700">
                <a:solidFill>
                  <a:schemeClr val="tx1">
                    <a:lumMod val="65000"/>
                    <a:lumOff val="35000"/>
                  </a:schemeClr>
                </a:solidFill>
              </a:rPr>
              <a:t>Random Forest: Ensemble model capturing non-linear patterns.</a:t>
            </a:r>
          </a:p>
          <a:p>
            <a:r>
              <a:rPr lang="en-US" sz="1700">
                <a:solidFill>
                  <a:schemeClr val="tx1">
                    <a:lumMod val="65000"/>
                    <a:lumOff val="35000"/>
                  </a:schemeClr>
                </a:solidFill>
              </a:rPr>
              <a:t>Gradient Boosting: Sequential boosting model optimized for performance.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500"/>
              <a:t>Why Multiple Models Were Tested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743200"/>
            <a:ext cx="3485179" cy="3613149"/>
          </a:xfrm>
        </p:spPr>
        <p:txBody>
          <a:bodyPr anchor="ctr">
            <a:normAutofit/>
          </a:bodyPr>
          <a:lstStyle/>
          <a:p>
            <a:r>
              <a:rPr lang="en-US" sz="1700"/>
              <a:t>Different algorithms capture different data patterns.</a:t>
            </a:r>
          </a:p>
          <a:p>
            <a:r>
              <a:rPr lang="en-US" sz="1700"/>
              <a:t>Linear models improve interpretability.</a:t>
            </a:r>
          </a:p>
          <a:p>
            <a:r>
              <a:rPr lang="en-US" sz="1700"/>
              <a:t>Tree-based models improve complex pattern detection.</a:t>
            </a:r>
          </a:p>
          <a:p>
            <a:r>
              <a:rPr lang="en-US" sz="1700"/>
              <a:t>Comparing models ensures robust final model selection.</a:t>
            </a:r>
          </a:p>
        </p:txBody>
      </p:sp>
      <p:pic>
        <p:nvPicPr>
          <p:cNvPr id="17" name="Picture 16" descr="Colorful floating paper">
            <a:extLst>
              <a:ext uri="{FF2B5EF4-FFF2-40B4-BE49-F238E27FC236}">
                <a16:creationId xmlns:a16="http://schemas.microsoft.com/office/drawing/2014/main" id="{15B8292E-8BF8-EB1F-BD1D-3414B227D9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281" r="31168" b="-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gital balance scale using circles">
            <a:extLst>
              <a:ext uri="{FF2B5EF4-FFF2-40B4-BE49-F238E27FC236}">
                <a16:creationId xmlns:a16="http://schemas.microsoft.com/office/drawing/2014/main" id="{9E32131D-0EC4-1823-7B08-DF644AE2B8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411" r="30793" b="1"/>
          <a:stretch>
            <a:fillRect/>
          </a:stretch>
        </p:blipFill>
        <p:spPr>
          <a:xfrm>
            <a:off x="20" y="-2"/>
            <a:ext cx="4057627" cy="6858002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7647" y="-1"/>
            <a:ext cx="508635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86487" y="405685"/>
            <a:ext cx="4098726" cy="1559301"/>
          </a:xfrm>
        </p:spPr>
        <p:txBody>
          <a:bodyPr>
            <a:normAutofit/>
          </a:bodyPr>
          <a:lstStyle/>
          <a:p>
            <a:r>
              <a:rPr lang="en-US" sz="3500"/>
              <a:t>Evaluation Metrics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86487" y="2743200"/>
            <a:ext cx="3935505" cy="3496878"/>
          </a:xfrm>
        </p:spPr>
        <p:txBody>
          <a:bodyPr anchor="ctr">
            <a:normAutofit/>
          </a:bodyPr>
          <a:lstStyle/>
          <a:p>
            <a:r>
              <a:rPr lang="en-US" sz="1700"/>
              <a:t>Accuracy: Overall percentage of correct predictions.</a:t>
            </a:r>
          </a:p>
          <a:p>
            <a:r>
              <a:rPr lang="en-US" sz="1700"/>
              <a:t>Recall: Ability to correctly identify excluded individuals.</a:t>
            </a:r>
          </a:p>
          <a:p>
            <a:r>
              <a:rPr lang="en-US" sz="1700"/>
              <a:t>Precision: Reliability of positive predictions.</a:t>
            </a:r>
          </a:p>
          <a:p>
            <a:r>
              <a:rPr lang="en-US" sz="1700"/>
              <a:t>F1 Score: Balance between recall and precision.</a:t>
            </a:r>
          </a:p>
          <a:p>
            <a:r>
              <a:rPr lang="en-US" sz="1700"/>
              <a:t>ROC-AUC: Measures overall classification quality.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Red toy person in front of two lines of white figures">
            <a:extLst>
              <a:ext uri="{FF2B5EF4-FFF2-40B4-BE49-F238E27FC236}">
                <a16:creationId xmlns:a16="http://schemas.microsoft.com/office/drawing/2014/main" id="{80B8B960-DF1D-C3A6-1911-88BF9EC568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477" r="28621"/>
          <a:stretch>
            <a:fillRect/>
          </a:stretch>
        </p:blipFill>
        <p:spPr>
          <a:xfrm>
            <a:off x="20" y="-2"/>
            <a:ext cx="4057627" cy="6858002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7647" y="-1"/>
            <a:ext cx="508635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86487" y="405685"/>
            <a:ext cx="4098726" cy="1559301"/>
          </a:xfrm>
        </p:spPr>
        <p:txBody>
          <a:bodyPr>
            <a:normAutofit/>
          </a:bodyPr>
          <a:lstStyle/>
          <a:p>
            <a:r>
              <a:rPr lang="en-US" sz="3500"/>
              <a:t>Understanding Model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86487" y="2743200"/>
            <a:ext cx="3935505" cy="3496878"/>
          </a:xfrm>
        </p:spPr>
        <p:txBody>
          <a:bodyPr anchor="ctr">
            <a:normAutofit/>
          </a:bodyPr>
          <a:lstStyle/>
          <a:p>
            <a:r>
              <a:rPr lang="en-US" sz="1700"/>
              <a:t>High accuracy alone is not enough in imbalanced datasets.</a:t>
            </a:r>
          </a:p>
          <a:p>
            <a:r>
              <a:rPr lang="en-US" sz="1700"/>
              <a:t>Recall was prioritized to avoid missing excluded individuals.</a:t>
            </a:r>
          </a:p>
          <a:p>
            <a:r>
              <a:rPr lang="en-US" sz="1700"/>
              <a:t>False negatives are costly because vulnerable people may be ignored.</a:t>
            </a:r>
          </a:p>
          <a:p>
            <a:r>
              <a:rPr lang="en-US" sz="1700"/>
              <a:t>Balanced metrics were used for fair model comparison.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Graph">
            <a:extLst>
              <a:ext uri="{FF2B5EF4-FFF2-40B4-BE49-F238E27FC236}">
                <a16:creationId xmlns:a16="http://schemas.microsoft.com/office/drawing/2014/main" id="{EC9E0E84-0C2D-56D4-9AB3-6B74FB48F4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878" r="37143"/>
          <a:stretch>
            <a:fillRect/>
          </a:stretch>
        </p:blipFill>
        <p:spPr>
          <a:xfrm>
            <a:off x="20" y="-2"/>
            <a:ext cx="4057627" cy="6858002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7647" y="-1"/>
            <a:ext cx="508635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86487" y="405685"/>
            <a:ext cx="4098726" cy="1559301"/>
          </a:xfrm>
        </p:spPr>
        <p:txBody>
          <a:bodyPr>
            <a:normAutofit/>
          </a:bodyPr>
          <a:lstStyle/>
          <a:p>
            <a:r>
              <a:rPr lang="en-US" sz="3500"/>
              <a:t>Best Model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86487" y="2743200"/>
            <a:ext cx="3935505" cy="3496878"/>
          </a:xfrm>
        </p:spPr>
        <p:txBody>
          <a:bodyPr anchor="ctr">
            <a:normAutofit/>
          </a:bodyPr>
          <a:lstStyle/>
          <a:p>
            <a:r>
              <a:rPr lang="en-US" sz="1700"/>
              <a:t>Gradient Boosting achieved the strongest overall predictive performance.</a:t>
            </a:r>
          </a:p>
          <a:p>
            <a:r>
              <a:rPr lang="en-US" sz="1700"/>
              <a:t>It captured complex nonlinear relationships in the data.</a:t>
            </a:r>
          </a:p>
          <a:p>
            <a:r>
              <a:rPr lang="en-US" sz="1700"/>
              <a:t>Provided better balance between accuracy and generalization.</a:t>
            </a:r>
          </a:p>
          <a:p>
            <a:r>
              <a:rPr lang="en-US" sz="1700"/>
              <a:t>Selected as final production-ready model for explainability analysis.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Why Gradient Boosting Performed Best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FE9BE3D-0BA1-E175-560E-1B4CCB32AFF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FA67CD3-AB4E-4A7A-BEB8-53C445D8C4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60045"/>
            <a:ext cx="4694659" cy="573405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82000"/>
                </a:schemeClr>
              </a:gs>
              <a:gs pos="25000">
                <a:schemeClr val="accent1">
                  <a:alpha val="60000"/>
                </a:schemeClr>
              </a:gs>
              <a:gs pos="94000">
                <a:schemeClr val="bg2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7CF545F-9C2E-4446-97CD-AD92990C2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299"/>
          <a:stretch/>
        </p:blipFill>
        <p:spPr>
          <a:xfrm>
            <a:off x="-1" y="857250"/>
            <a:ext cx="9144001" cy="57340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0578" y="1257300"/>
            <a:ext cx="3988849" cy="1381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>
                <a:solidFill>
                  <a:srgbClr val="000000"/>
                </a:solidFill>
              </a:rPr>
              <a:t>Model Explainability with SHAP</a:t>
            </a:r>
          </a:p>
        </p:txBody>
      </p:sp>
      <p:sp>
        <p:nvSpPr>
          <p:cNvPr id="14" name="Freeform 62">
            <a:extLst>
              <a:ext uri="{FF2B5EF4-FFF2-40B4-BE49-F238E27FC236}">
                <a16:creationId xmlns:a16="http://schemas.microsoft.com/office/drawing/2014/main" id="{339C8D78-A644-462F-B674-F440635E53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9525" y="1468363"/>
            <a:ext cx="4180922" cy="4515805"/>
          </a:xfrm>
          <a:custGeom>
            <a:avLst/>
            <a:gdLst>
              <a:gd name="connsiteX0" fmla="*/ 2299956 w 5000438"/>
              <a:gd name="connsiteY0" fmla="*/ 0 h 5400962"/>
              <a:gd name="connsiteX1" fmla="*/ 5000438 w 5000438"/>
              <a:gd name="connsiteY1" fmla="*/ 2700481 h 5400962"/>
              <a:gd name="connsiteX2" fmla="*/ 2299956 w 5000438"/>
              <a:gd name="connsiteY2" fmla="*/ 5400962 h 5400962"/>
              <a:gd name="connsiteX3" fmla="*/ 60675 w 5000438"/>
              <a:gd name="connsiteY3" fmla="*/ 4210346 h 5400962"/>
              <a:gd name="connsiteX4" fmla="*/ 0 w 5000438"/>
              <a:gd name="connsiteY4" fmla="*/ 4110472 h 5400962"/>
              <a:gd name="connsiteX5" fmla="*/ 0 w 5000438"/>
              <a:gd name="connsiteY5" fmla="*/ 1290491 h 5400962"/>
              <a:gd name="connsiteX6" fmla="*/ 60675 w 5000438"/>
              <a:gd name="connsiteY6" fmla="*/ 1190617 h 5400962"/>
              <a:gd name="connsiteX7" fmla="*/ 2299956 w 5000438"/>
              <a:gd name="connsiteY7" fmla="*/ 0 h 5400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00438" h="5400962">
                <a:moveTo>
                  <a:pt x="2299956" y="0"/>
                </a:moveTo>
                <a:cubicBezTo>
                  <a:pt x="3791390" y="0"/>
                  <a:pt x="5000438" y="1209047"/>
                  <a:pt x="5000438" y="2700481"/>
                </a:cubicBezTo>
                <a:cubicBezTo>
                  <a:pt x="5000438" y="4191915"/>
                  <a:pt x="3791390" y="5400962"/>
                  <a:pt x="2299956" y="5400962"/>
                </a:cubicBezTo>
                <a:cubicBezTo>
                  <a:pt x="1367810" y="5400962"/>
                  <a:pt x="545971" y="4928678"/>
                  <a:pt x="60675" y="4210346"/>
                </a:cubicBezTo>
                <a:lnTo>
                  <a:pt x="0" y="4110472"/>
                </a:lnTo>
                <a:lnTo>
                  <a:pt x="0" y="1290491"/>
                </a:lnTo>
                <a:lnTo>
                  <a:pt x="60675" y="1190617"/>
                </a:lnTo>
                <a:cubicBezTo>
                  <a:pt x="545971" y="472284"/>
                  <a:pt x="1367810" y="0"/>
                  <a:pt x="2299956" y="0"/>
                </a:cubicBezTo>
                <a:close/>
              </a:path>
            </a:pathLst>
          </a:custGeom>
          <a:solidFill>
            <a:srgbClr val="FFFFFF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85000"/>
                  </a:schemeClr>
                </a:gs>
                <a:gs pos="100000">
                  <a:schemeClr val="bg2">
                    <a:lumMod val="8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350"/>
          </a:p>
        </p:txBody>
      </p:sp>
      <p:pic>
        <p:nvPicPr>
          <p:cNvPr id="7" name="Graphic 6" descr="Cycle with People">
            <a:extLst>
              <a:ext uri="{FF2B5EF4-FFF2-40B4-BE49-F238E27FC236}">
                <a16:creationId xmlns:a16="http://schemas.microsoft.com/office/drawing/2014/main" id="{2B0A3CE2-18EC-DE5C-0B24-7DF5A25105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9490" y="2079067"/>
            <a:ext cx="3026740" cy="302674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0579" y="2947260"/>
            <a:ext cx="4003614" cy="2927188"/>
          </a:xfrm>
        </p:spPr>
        <p:txBody>
          <a:bodyPr anchor="ctr">
            <a:normAutofit/>
          </a:bodyPr>
          <a:lstStyle/>
          <a:p>
            <a:r>
              <a:rPr lang="en-US" sz="1500">
                <a:solidFill>
                  <a:srgbClr val="000000"/>
                </a:solidFill>
              </a:rPr>
              <a:t>SHAP explains how features influence predictions.</a:t>
            </a:r>
          </a:p>
          <a:p>
            <a:r>
              <a:rPr lang="en-US" sz="1500">
                <a:solidFill>
                  <a:srgbClr val="000000"/>
                </a:solidFill>
              </a:rPr>
              <a:t>Shows why an individual was classified as excluded.</a:t>
            </a:r>
          </a:p>
          <a:p>
            <a:r>
              <a:rPr lang="en-US" sz="1500">
                <a:solidFill>
                  <a:srgbClr val="000000"/>
                </a:solidFill>
              </a:rPr>
              <a:t>Improves transparency and trust .</a:t>
            </a:r>
          </a:p>
          <a:p>
            <a:r>
              <a:rPr lang="en-US" sz="1500">
                <a:solidFill>
                  <a:srgbClr val="000000"/>
                </a:solidFill>
              </a:rPr>
              <a:t>Supports policy interpretation and stakeholder confidence.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699" y="687480"/>
            <a:ext cx="5605629" cy="994172"/>
          </a:xfrm>
        </p:spPr>
        <p:txBody>
          <a:bodyPr>
            <a:normAutofit/>
          </a:bodyPr>
          <a:lstStyle/>
          <a:p>
            <a:r>
              <a:rPr lang="en-US" sz="3850"/>
              <a:t>Key SHAP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321" y="2227943"/>
            <a:ext cx="5033221" cy="3788227"/>
          </a:xfrm>
        </p:spPr>
        <p:txBody>
          <a:bodyPr anchor="ctr">
            <a:normAutofit/>
          </a:bodyPr>
          <a:lstStyle/>
          <a:p>
            <a:r>
              <a:rPr lang="en-US" sz="2100"/>
              <a:t>Low education increased exclusion risk significantly.</a:t>
            </a:r>
          </a:p>
          <a:p>
            <a:r>
              <a:rPr lang="en-US" sz="2100"/>
              <a:t>Rural residence strongly contributed to exclusion predictions.</a:t>
            </a:r>
          </a:p>
          <a:p>
            <a:r>
              <a:rPr lang="en-US" sz="2100"/>
              <a:t>Youth populations showed higher vulnerability.</a:t>
            </a:r>
          </a:p>
          <a:p>
            <a:r>
              <a:rPr lang="en-US" sz="2100"/>
              <a:t>Socio-economic status influenced financial inclusion outcomes.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9A309A7-1751-4ABE-A3C1-EEC40366A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9435" y="0"/>
            <a:ext cx="195456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67D8EB6-EAE1-4F9C-B398-83321E287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567" y="2369132"/>
            <a:ext cx="2119736" cy="2119736"/>
          </a:xfrm>
          <a:prstGeom prst="ellipse">
            <a:avLst/>
          </a:prstGeom>
          <a:solidFill>
            <a:srgbClr val="FFFFFF"/>
          </a:solidFill>
          <a:ln w="222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18" name="Graphic 17" descr="Schoolhouse">
            <a:extLst>
              <a:ext uri="{FF2B5EF4-FFF2-40B4-BE49-F238E27FC236}">
                <a16:creationId xmlns:a16="http://schemas.microsoft.com/office/drawing/2014/main" id="{126A4DE7-EE19-81C8-5CB9-67B74DE023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24964" y="2865141"/>
            <a:ext cx="1143455" cy="114345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alculator, pen, compass, money and a paper with graphs printed on it">
            <a:extLst>
              <a:ext uri="{FF2B5EF4-FFF2-40B4-BE49-F238E27FC236}">
                <a16:creationId xmlns:a16="http://schemas.microsoft.com/office/drawing/2014/main" id="{520569FD-5EF4-A2AA-3352-6396F74998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051" r="27828" b="-1"/>
          <a:stretch>
            <a:fillRect/>
          </a:stretch>
        </p:blipFill>
        <p:spPr>
          <a:xfrm>
            <a:off x="4577270" y="10"/>
            <a:ext cx="4566728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9B296B9-C5A5-4E4F-9B60-C907B5F14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7268" cy="68580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D0300FD3-5AF1-6305-15FA-9078072672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577268" cy="2285995"/>
          </a:xfrm>
          <a:prstGeom prst="rect">
            <a:avLst/>
          </a:prstGeom>
          <a:ln>
            <a:noFill/>
          </a:ln>
          <a:effectLst>
            <a:outerShdw blurRad="254000" dist="127000" dir="5460000" sx="92000" sy="92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0" y="328512"/>
            <a:ext cx="3583791" cy="162897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500"/>
              <a:t>Feature Importance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0" y="2884929"/>
            <a:ext cx="3494817" cy="3374137"/>
          </a:xfrm>
        </p:spPr>
        <p:txBody>
          <a:bodyPr anchor="ctr">
            <a:normAutofit/>
          </a:bodyPr>
          <a:lstStyle/>
          <a:p>
            <a:r>
              <a:rPr lang="en-US" sz="1700"/>
              <a:t>Education level was among the strongest predictors.</a:t>
            </a:r>
          </a:p>
          <a:p>
            <a:r>
              <a:rPr lang="en-US" sz="1700"/>
              <a:t>Employment and income indicators improved inclusion probability.</a:t>
            </a:r>
          </a:p>
          <a:p>
            <a:r>
              <a:rPr lang="en-US" sz="1700"/>
              <a:t>Geographic location influenced access to financial services.</a:t>
            </a:r>
          </a:p>
          <a:p>
            <a:r>
              <a:rPr lang="en-US" sz="1700"/>
              <a:t>Behavioral variables captured financial engagement patterns.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699" y="687480"/>
            <a:ext cx="5605629" cy="994172"/>
          </a:xfrm>
        </p:spPr>
        <p:txBody>
          <a:bodyPr>
            <a:normAutofit/>
          </a:bodyPr>
          <a:lstStyle/>
          <a:p>
            <a:r>
              <a:rPr lang="en-US" sz="3850"/>
              <a:t>Project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321" y="2227943"/>
            <a:ext cx="5033221" cy="3788227"/>
          </a:xfrm>
        </p:spPr>
        <p:txBody>
          <a:bodyPr anchor="ctr">
            <a:normAutofit/>
          </a:bodyPr>
          <a:lstStyle/>
          <a:p>
            <a:r>
              <a:rPr lang="en-US" sz="2100"/>
              <a:t>Supports evidence-based financial inclusion policies.</a:t>
            </a:r>
          </a:p>
          <a:p>
            <a:r>
              <a:rPr lang="en-US" sz="2100"/>
              <a:t>Can help banks target underserved populations.</a:t>
            </a:r>
          </a:p>
          <a:p>
            <a:r>
              <a:rPr lang="en-US" sz="2100"/>
              <a:t>Improves transparency in predictive decision systems.</a:t>
            </a:r>
          </a:p>
          <a:p>
            <a:r>
              <a:rPr lang="en-US" sz="2100"/>
              <a:t>Demonstrates responsible and explainable AI application in Kenya.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A309A7-1751-4ABE-A3C1-EEC40366A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9435" y="0"/>
            <a:ext cx="195456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67D8EB6-EAE1-4F9C-B398-83321E287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567" y="2369132"/>
            <a:ext cx="2119736" cy="2119736"/>
          </a:xfrm>
          <a:prstGeom prst="ellipse">
            <a:avLst/>
          </a:prstGeom>
          <a:solidFill>
            <a:srgbClr val="FFFFFF"/>
          </a:solidFill>
          <a:ln w="222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7" name="Graphic 6" descr="Piggy Bank">
            <a:extLst>
              <a:ext uri="{FF2B5EF4-FFF2-40B4-BE49-F238E27FC236}">
                <a16:creationId xmlns:a16="http://schemas.microsoft.com/office/drawing/2014/main" id="{05280500-D6CC-944E-DED6-E359791015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24964" y="2865141"/>
            <a:ext cx="1143455" cy="114345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Performance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4" name="Picture 3" descr="improved_model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7772400" cy="437197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758" y="327025"/>
            <a:ext cx="3993358" cy="1630363"/>
          </a:xfrm>
        </p:spPr>
        <p:txBody>
          <a:bodyPr anchor="b">
            <a:normAutofit/>
          </a:bodyPr>
          <a:lstStyle/>
          <a:p>
            <a:r>
              <a:rPr lang="en-US" sz="3100"/>
              <a:t>Deployment Overview Analysis</a:t>
            </a: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FCC5F556-20DD-C9D3-7BE9-79974AA1C1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483" r="30211"/>
          <a:stretch>
            <a:fillRect/>
          </a:stretch>
        </p:blipFill>
        <p:spPr>
          <a:xfrm>
            <a:off x="4474766" y="1"/>
            <a:ext cx="4669234" cy="6856412"/>
          </a:xfrm>
          <a:custGeom>
            <a:avLst/>
            <a:gdLst/>
            <a:ahLst/>
            <a:cxnLst/>
            <a:rect l="l" t="t" r="r" b="b"/>
            <a:pathLst>
              <a:path w="5620032" h="6856412">
                <a:moveTo>
                  <a:pt x="13187" y="0"/>
                </a:moveTo>
                <a:lnTo>
                  <a:pt x="5620032" y="0"/>
                </a:lnTo>
                <a:lnTo>
                  <a:pt x="5620032" y="6856412"/>
                </a:lnTo>
                <a:lnTo>
                  <a:pt x="0" y="6856412"/>
                </a:lnTo>
                <a:lnTo>
                  <a:pt x="64318" y="6298274"/>
                </a:lnTo>
                <a:cubicBezTo>
                  <a:pt x="203221" y="4970220"/>
                  <a:pt x="240510" y="3632077"/>
                  <a:pt x="97152" y="2276000"/>
                </a:cubicBezTo>
                <a:cubicBezTo>
                  <a:pt x="35713" y="1694824"/>
                  <a:pt x="7455" y="1116942"/>
                  <a:pt x="6154" y="541737"/>
                </a:cubicBezTo>
                <a:close/>
              </a:path>
            </a:pathLst>
          </a:custGeom>
        </p:spPr>
      </p:pic>
      <p:graphicFrame>
        <p:nvGraphicFramePr>
          <p:cNvPr id="61" name="Content Placeholder 2">
            <a:extLst>
              <a:ext uri="{FF2B5EF4-FFF2-40B4-BE49-F238E27FC236}">
                <a16:creationId xmlns:a16="http://schemas.microsoft.com/office/drawing/2014/main" id="{B75A7550-4D4A-6F22-CFE8-E2479879CBD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360759" y="2286001"/>
          <a:ext cx="3993357" cy="39195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13B067F-3154-4968-A886-DF93A787E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75420"/>
            <a:ext cx="9036544" cy="4093306"/>
            <a:chOff x="1" y="2075420"/>
            <a:chExt cx="12048729" cy="4093306"/>
          </a:xfrm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7583D6C-C05B-47AB-8540-B2700B82A4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6501AD91-D973-4968-95E4-4C26CFDF8F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C165989-F5FE-4BB6-9817-E7828CB1D6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6B0649CC-B912-4E82-BEA0-DA75ECB19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6BA08C17-C9A5-4FA8-ABC4-44FB3B869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70DEAC6C-553C-437E-BC17-D4495233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7479052" y="1131512"/>
            <a:ext cx="2796461" cy="533439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444654" y="317578"/>
            <a:ext cx="411480" cy="549007"/>
            <a:chOff x="7029447" y="3514725"/>
            <a:chExt cx="1285875" cy="549007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6140785"/>
            <a:ext cx="4571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645785" y="5940560"/>
            <a:ext cx="1285875" cy="549007"/>
            <a:chOff x="7029447" y="3514725"/>
            <a:chExt cx="1285875" cy="549007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1" y="4018137"/>
            <a:ext cx="3803416" cy="2129586"/>
          </a:xfrm>
          <a:noFill/>
        </p:spPr>
        <p:txBody>
          <a:bodyPr anchor="t">
            <a:normAutofit/>
          </a:bodyPr>
          <a:lstStyle/>
          <a:p>
            <a:pPr algn="l"/>
            <a:r>
              <a:rPr lang="en-US" sz="4200">
                <a:solidFill>
                  <a:schemeClr val="bg1"/>
                </a:solidFill>
              </a:rPr>
              <a:t>Deployment Architecture &amp; Workflow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C4692E5-298B-B20B-3ADF-1ED8D90A65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19" y="898408"/>
            <a:ext cx="8132299" cy="2703989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1F4E1649-4D1F-4A91-AF97-A254BFDD5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317544" y="830625"/>
            <a:ext cx="304800" cy="322326"/>
            <a:chOff x="215328" y="-46937"/>
            <a:chExt cx="304800" cy="2773841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E483602-62F9-474D-9C9B-5EE4CD767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DD7D1AC0-A6C7-40E3-9841-F34AC831A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F951C4DD-7427-497D-9DE3-9D731D3F4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EE18298-0BF5-4D7A-921A-2F4186E8D9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Oval 54">
            <a:extLst>
              <a:ext uri="{FF2B5EF4-FFF2-40B4-BE49-F238E27FC236}">
                <a16:creationId xmlns:a16="http://schemas.microsoft.com/office/drawing/2014/main" id="{773AEA78-C03B-40B7-9D11-DC022119D5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600000">
            <a:off x="7613133" y="4270841"/>
            <a:ext cx="1423414" cy="1897885"/>
          </a:xfrm>
          <a:prstGeom prst="ellipse">
            <a:avLst/>
          </a:prstGeom>
          <a:gradFill>
            <a:gsLst>
              <a:gs pos="0">
                <a:schemeClr val="tx2">
                  <a:lumMod val="75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1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43978" y="4018143"/>
            <a:ext cx="4161833" cy="2129599"/>
          </a:xfrm>
          <a:noFill/>
        </p:spPr>
        <p:txBody>
          <a:bodyPr anchor="t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900">
                <a:solidFill>
                  <a:schemeClr val="bg1"/>
                </a:solidFill>
              </a:rPr>
              <a:t> </a:t>
            </a:r>
          </a:p>
          <a:p>
            <a:pPr marL="0" indent="0">
              <a:lnSpc>
                <a:spcPct val="90000"/>
              </a:lnSpc>
              <a:buNone/>
            </a:pPr>
            <a:endParaRPr lang="en-US" sz="900">
              <a:solidFill>
                <a:schemeClr val="bg1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endParaRPr lang="en-US" sz="900">
              <a:solidFill>
                <a:schemeClr val="bg1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endParaRPr lang="en-US" sz="900">
              <a:solidFill>
                <a:schemeClr val="bg1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endParaRPr lang="en-US" sz="900">
              <a:solidFill>
                <a:schemeClr val="bg1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US" sz="900">
                <a:solidFill>
                  <a:schemeClr val="bg1"/>
                </a:solidFill>
              </a:rPr>
              <a:t>Core Assets:</a:t>
            </a:r>
          </a:p>
          <a:p>
            <a:pPr>
              <a:lnSpc>
                <a:spcPct val="90000"/>
              </a:lnSpc>
            </a:pPr>
            <a:r>
              <a:rPr lang="en-US" sz="900">
                <a:solidFill>
                  <a:schemeClr val="bg1"/>
                </a:solidFill>
              </a:rPr>
              <a:t> Trained model pipeline (.joblib)</a:t>
            </a:r>
          </a:p>
          <a:p>
            <a:pPr>
              <a:lnSpc>
                <a:spcPct val="90000"/>
              </a:lnSpc>
            </a:pPr>
            <a:r>
              <a:rPr lang="en-US" sz="900">
                <a:solidFill>
                  <a:schemeClr val="bg1"/>
                </a:solidFill>
              </a:rPr>
              <a:t> Feature schema (.json)</a:t>
            </a:r>
          </a:p>
          <a:p>
            <a:pPr>
              <a:lnSpc>
                <a:spcPct val="90000"/>
              </a:lnSpc>
            </a:pPr>
            <a:r>
              <a:rPr lang="en-US" sz="900">
                <a:solidFill>
                  <a:schemeClr val="bg1"/>
                </a:solidFill>
              </a:rPr>
              <a:t> Model metadata</a:t>
            </a:r>
          </a:p>
          <a:p>
            <a:pPr>
              <a:lnSpc>
                <a:spcPct val="90000"/>
              </a:lnSpc>
            </a:pPr>
            <a:r>
              <a:rPr lang="en-US" sz="900">
                <a:solidFill>
                  <a:schemeClr val="bg1"/>
                </a:solidFill>
              </a:rPr>
              <a:t> Sample input templates</a:t>
            </a:r>
          </a:p>
          <a:p>
            <a:pPr>
              <a:lnSpc>
                <a:spcPct val="90000"/>
              </a:lnSpc>
            </a:pPr>
            <a:endParaRPr lang="en-US" sz="900"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900">
                <a:solidFill>
                  <a:schemeClr val="bg1"/>
                </a:solidFill>
              </a:rPr>
              <a:t>Ensures consistent preprocessing and reliable predictions in production.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889D5D69-307E-4862-950C-1A7CC8A22B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!!Rectangle">
            <a:extLst>
              <a:ext uri="{FF2B5EF4-FFF2-40B4-BE49-F238E27FC236}">
                <a16:creationId xmlns:a16="http://schemas.microsoft.com/office/drawing/2014/main" id="{2100E061-779B-4006-BC39-114A057A71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189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DDDBF1-42EF-80B2-1300-3DD6CC04B8F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alphaModFix amt="35000"/>
          </a:blip>
          <a:srcRect b="2913"/>
          <a:stretch>
            <a:fillRect/>
          </a:stretch>
        </p:blipFill>
        <p:spPr>
          <a:xfrm>
            <a:off x="20" y="10"/>
            <a:ext cx="9143980" cy="685798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98643"/>
            <a:ext cx="3932545" cy="5189746"/>
          </a:xfrm>
        </p:spPr>
        <p:txBody>
          <a:bodyPr anchor="t">
            <a:normAutofit/>
          </a:bodyPr>
          <a:lstStyle/>
          <a:p>
            <a:r>
              <a:rPr lang="en-US" sz="7000">
                <a:solidFill>
                  <a:srgbClr val="FFFFFF"/>
                </a:solidFill>
              </a:rPr>
              <a:t>Business Value &amp; Impact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7716" y="373056"/>
            <a:ext cx="0" cy="6476066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Graphic 11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4461" y="740316"/>
            <a:ext cx="10427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Graphic 10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63546" y="969611"/>
            <a:ext cx="68353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Graphic 12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2806" y="1484755"/>
            <a:ext cx="95785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21781" y="698643"/>
            <a:ext cx="3093569" cy="5301467"/>
          </a:xfrm>
        </p:spPr>
        <p:txBody>
          <a:bodyPr anchor="b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700" dirty="0">
                <a:solidFill>
                  <a:srgbClr val="FFFFFF"/>
                </a:solidFill>
              </a:rPr>
              <a:t>Risk Classification:</a:t>
            </a: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rgbClr val="FFFFFF"/>
                </a:solidFill>
              </a:rPr>
              <a:t> Low Risk: &lt;40%</a:t>
            </a: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rgbClr val="FFFFFF"/>
                </a:solidFill>
              </a:rPr>
              <a:t> Medium Risk: 40–70%</a:t>
            </a: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rgbClr val="FFFFFF"/>
                </a:solidFill>
              </a:rPr>
              <a:t> High Risk: &gt;70%</a:t>
            </a:r>
          </a:p>
          <a:p>
            <a:pPr>
              <a:lnSpc>
                <a:spcPct val="90000"/>
              </a:lnSpc>
            </a:pPr>
            <a:endParaRPr lang="en-US" sz="1700" dirty="0">
              <a:solidFill>
                <a:srgbClr val="FFFFFF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US" sz="1700" dirty="0">
                <a:solidFill>
                  <a:srgbClr val="FFFFFF"/>
                </a:solidFill>
              </a:rPr>
              <a:t>Business Benefits:</a:t>
            </a: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rgbClr val="FFFFFF"/>
                </a:solidFill>
              </a:rPr>
              <a:t>Accessible predictions for stakeholders</a:t>
            </a: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rgbClr val="FFFFFF"/>
                </a:solidFill>
              </a:rPr>
              <a:t>Supports targeted financial inclusion programs</a:t>
            </a: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rgbClr val="FFFFFF"/>
                </a:solidFill>
              </a:rPr>
              <a:t>Enables future dashboard and API integration</a:t>
            </a: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rgbClr val="FFFFFF"/>
                </a:solidFill>
              </a:rPr>
              <a:t>Demonstrates production-ready deployment</a:t>
            </a:r>
          </a:p>
          <a:p>
            <a:pPr>
              <a:lnSpc>
                <a:spcPct val="90000"/>
              </a:lnSpc>
            </a:pPr>
            <a:endParaRPr lang="en-US" sz="1700" dirty="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rgbClr val="FFFFFF"/>
                </a:solidFill>
              </a:rPr>
              <a:t>Takeaway: Deployment turns model outputs into actionable insights.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r>
              <a:rPr lang="en-US" sz="350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743200"/>
            <a:ext cx="3485179" cy="3613149"/>
          </a:xfrm>
        </p:spPr>
        <p:txBody>
          <a:bodyPr anchor="ctr">
            <a:normAutofit/>
          </a:bodyPr>
          <a:lstStyle/>
          <a:p>
            <a:r>
              <a:rPr lang="en-US" sz="1700"/>
              <a:t>Machine learning successfully identified financial exclusion patterns.</a:t>
            </a:r>
          </a:p>
          <a:p>
            <a:r>
              <a:rPr lang="en-US" sz="1700"/>
              <a:t>Gradient Boosting delivered the strongest overall predictive performance.</a:t>
            </a:r>
          </a:p>
          <a:p>
            <a:r>
              <a:rPr lang="en-US" sz="1700"/>
              <a:t>SHAP explainability improved model transparency and trust.</a:t>
            </a:r>
          </a:p>
          <a:p>
            <a:r>
              <a:rPr lang="en-US" sz="1700"/>
              <a:t>The project demonstrates to improve and  support financial inclusion in Kenya.</a:t>
            </a:r>
          </a:p>
        </p:txBody>
      </p:sp>
      <p:pic>
        <p:nvPicPr>
          <p:cNvPr id="5" name="Picture 4" descr="Digital graphs and numbers in 3D">
            <a:extLst>
              <a:ext uri="{FF2B5EF4-FFF2-40B4-BE49-F238E27FC236}">
                <a16:creationId xmlns:a16="http://schemas.microsoft.com/office/drawing/2014/main" id="{BB14F405-FFA7-82D1-38B1-0CB94E8D8B2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245" r="23205" b="-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8972" y="647700"/>
            <a:ext cx="2444610" cy="5557838"/>
          </a:xfrm>
        </p:spPr>
        <p:txBody>
          <a:bodyPr anchor="ctr">
            <a:normAutofit/>
          </a:bodyPr>
          <a:lstStyle/>
          <a:p>
            <a:r>
              <a:rPr lang="en-US" sz="3100" b="1"/>
              <a:t>Kenya Financial Inclusion Risk Prediction</a:t>
            </a:r>
            <a:br>
              <a:rPr lang="en-US" sz="3100" b="1"/>
            </a:br>
            <a:endParaRPr lang="en-US" sz="3100"/>
          </a:p>
        </p:txBody>
      </p:sp>
      <p:pic>
        <p:nvPicPr>
          <p:cNvPr id="5" name="Picture 4" descr="Desk with productivity items">
            <a:extLst>
              <a:ext uri="{FF2B5EF4-FFF2-40B4-BE49-F238E27FC236}">
                <a16:creationId xmlns:a16="http://schemas.microsoft.com/office/drawing/2014/main" id="{EF93C25D-7207-6977-E523-271CB09FF1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499" r="27247" b="-2"/>
          <a:stretch>
            <a:fillRect/>
          </a:stretch>
        </p:blipFill>
        <p:spPr>
          <a:xfrm>
            <a:off x="20" y="-1"/>
            <a:ext cx="3107653" cy="6856413"/>
          </a:xfrm>
          <a:custGeom>
            <a:avLst/>
            <a:gdLst/>
            <a:ahLst/>
            <a:cxnLst/>
            <a:rect l="l" t="t" r="r" b="b"/>
            <a:pathLst>
              <a:path w="4143564" h="6856413">
                <a:moveTo>
                  <a:pt x="0" y="0"/>
                </a:moveTo>
                <a:lnTo>
                  <a:pt x="4141667" y="0"/>
                </a:lnTo>
                <a:lnTo>
                  <a:pt x="4141086" y="145208"/>
                </a:lnTo>
                <a:cubicBezTo>
                  <a:pt x="4109790" y="1611281"/>
                  <a:pt x="3796834" y="3077353"/>
                  <a:pt x="4047199" y="4543426"/>
                </a:cubicBezTo>
                <a:cubicBezTo>
                  <a:pt x="4172382" y="5276463"/>
                  <a:pt x="4156734" y="6009499"/>
                  <a:pt x="4105878" y="6742536"/>
                </a:cubicBezTo>
                <a:lnTo>
                  <a:pt x="4096763" y="6856413"/>
                </a:lnTo>
                <a:lnTo>
                  <a:pt x="0" y="6856413"/>
                </a:lnTo>
                <a:close/>
              </a:path>
            </a:pathLst>
          </a:cu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4881" y="647700"/>
            <a:ext cx="2747169" cy="5557838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200" dirty="0"/>
              <a:t>Key Contributions</a:t>
            </a:r>
          </a:p>
          <a:p>
            <a:pPr>
              <a:lnSpc>
                <a:spcPct val="90000"/>
              </a:lnSpc>
              <a:buFont typeface="Courier New" panose="02070309020205020404" pitchFamily="49" charset="0"/>
              <a:buChar char="o"/>
            </a:pPr>
            <a:r>
              <a:rPr lang="en-US" sz="1200" dirty="0"/>
              <a:t>Defined a data-driven approach to identify individuals at risk of financial exclusion in Kenya</a:t>
            </a:r>
          </a:p>
          <a:p>
            <a:pPr>
              <a:lnSpc>
                <a:spcPct val="90000"/>
              </a:lnSpc>
              <a:buFont typeface="Courier New" panose="02070309020205020404" pitchFamily="49" charset="0"/>
              <a:buChar char="o"/>
            </a:pPr>
            <a:r>
              <a:rPr lang="en-US" sz="1200" dirty="0"/>
              <a:t>Cleaned, prepared and explored FinAccess data to uncover key patterns</a:t>
            </a:r>
          </a:p>
          <a:p>
            <a:pPr>
              <a:lnSpc>
                <a:spcPct val="90000"/>
              </a:lnSpc>
              <a:buFont typeface="Courier New" panose="02070309020205020404" pitchFamily="49" charset="0"/>
              <a:buChar char="o"/>
            </a:pPr>
            <a:r>
              <a:rPr lang="en-US" sz="1200" dirty="0"/>
              <a:t>Built and compared multiple machine learning models to predict exclusion risk</a:t>
            </a:r>
          </a:p>
          <a:p>
            <a:pPr>
              <a:lnSpc>
                <a:spcPct val="90000"/>
              </a:lnSpc>
              <a:buFont typeface="Courier New" panose="02070309020205020404" pitchFamily="49" charset="0"/>
              <a:buChar char="o"/>
            </a:pPr>
            <a:r>
              <a:rPr lang="en-US" sz="1200" dirty="0"/>
              <a:t>Applied SHAP, Mutual Information and Permutation Importance to explain predictions</a:t>
            </a:r>
          </a:p>
          <a:p>
            <a:pPr>
              <a:lnSpc>
                <a:spcPct val="90000"/>
              </a:lnSpc>
              <a:buFont typeface="Courier New" panose="02070309020205020404" pitchFamily="49" charset="0"/>
              <a:buChar char="o"/>
            </a:pPr>
            <a:r>
              <a:rPr lang="en-US" sz="1200" dirty="0"/>
              <a:t>Generated actionable recommendations for policymakers and financial institutions</a:t>
            </a:r>
          </a:p>
          <a:p>
            <a:pPr>
              <a:lnSpc>
                <a:spcPct val="90000"/>
              </a:lnSpc>
              <a:buFont typeface="Courier New" panose="02070309020205020404" pitchFamily="49" charset="0"/>
              <a:buChar char="o"/>
            </a:pPr>
            <a:r>
              <a:rPr lang="en-US" sz="1200" dirty="0"/>
              <a:t> Deployed a production-ready prediction system for decision support</a:t>
            </a:r>
          </a:p>
          <a:p>
            <a:pPr>
              <a:lnSpc>
                <a:spcPct val="90000"/>
              </a:lnSpc>
              <a:buFont typeface="Courier New" panose="02070309020205020404" pitchFamily="49" charset="0"/>
              <a:buChar char="o"/>
            </a:pPr>
            <a:endParaRPr lang="en-US" sz="12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1200" dirty="0"/>
              <a:t>Final Takeaway:</a:t>
            </a:r>
          </a:p>
          <a:p>
            <a:pPr>
              <a:lnSpc>
                <a:spcPct val="90000"/>
              </a:lnSpc>
            </a:pPr>
            <a:r>
              <a:rPr lang="en-US" sz="1200" dirty="0"/>
              <a:t>"By combining data analysis, predictive modeling, SHAP and deployment, we developed an end-to-end solution to support financial inclusion in Kenya."</a:t>
            </a:r>
          </a:p>
          <a:p>
            <a:pPr marL="0" indent="0">
              <a:lnSpc>
                <a:spcPct val="90000"/>
              </a:lnSpc>
              <a:buNone/>
            </a:pPr>
            <a:endParaRPr lang="en-US" sz="1200" dirty="0"/>
          </a:p>
          <a:p>
            <a:pPr marL="0" indent="0">
              <a:lnSpc>
                <a:spcPct val="90000"/>
              </a:lnSpc>
              <a:buNone/>
            </a:pPr>
            <a:endParaRPr lang="en-US" sz="12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1200" b="1" dirty="0"/>
              <a:t>Thank You for Your Time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1212</TotalTime>
  <Words>807</Words>
  <Application>Microsoft Office PowerPoint</Application>
  <PresentationFormat>On-screen Show (4:3)</PresentationFormat>
  <Paragraphs>132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Courier New</vt:lpstr>
      <vt:lpstr>Office Theme</vt:lpstr>
      <vt:lpstr>Kenya Financial Inclusion Risk Prediction</vt:lpstr>
      <vt:lpstr>Project Objective</vt:lpstr>
      <vt:lpstr>Business Problem</vt:lpstr>
      <vt:lpstr>Dataset Overview</vt:lpstr>
      <vt:lpstr>Data Preparation Pipeline</vt:lpstr>
      <vt:lpstr>Why Preprocessing Matters</vt:lpstr>
      <vt:lpstr>Models Evaluated</vt:lpstr>
      <vt:lpstr>Why Multiple Models Were Tested</vt:lpstr>
      <vt:lpstr>Evaluation Metrics Explained</vt:lpstr>
      <vt:lpstr>Understanding Model Trade-Offs</vt:lpstr>
      <vt:lpstr>Best Model Selection</vt:lpstr>
      <vt:lpstr>Why Gradient Boosting Performed Best</vt:lpstr>
      <vt:lpstr>Model Explainability with SHAP</vt:lpstr>
      <vt:lpstr>Key SHAP Insights</vt:lpstr>
      <vt:lpstr>Feature Importance Analysis</vt:lpstr>
      <vt:lpstr>Project Impact</vt:lpstr>
      <vt:lpstr>Model Performance Comparison</vt:lpstr>
      <vt:lpstr>Deployment Overview Analysis</vt:lpstr>
      <vt:lpstr>Deployment Architecture &amp; Workflow</vt:lpstr>
      <vt:lpstr>Business Value &amp; Impact</vt:lpstr>
      <vt:lpstr>Conclusion</vt:lpstr>
      <vt:lpstr>Kenya Financial Inclusion Risk Prediction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SYLVIA KWAMBOKA</dc:creator>
  <cp:keywords/>
  <dc:description>generated using python-pptx</dc:description>
  <cp:lastModifiedBy>Kelvin Mpole</cp:lastModifiedBy>
  <cp:revision>6</cp:revision>
  <dcterms:created xsi:type="dcterms:W3CDTF">2013-01-27T09:14:16Z</dcterms:created>
  <dcterms:modified xsi:type="dcterms:W3CDTF">2026-05-26T13:08:37Z</dcterms:modified>
  <cp:category/>
</cp:coreProperties>
</file>